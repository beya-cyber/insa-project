
<file path=[Content_Types].xml><?xml version="1.0" encoding="utf-8"?>
<ns0:Types xmlns:ns0="http://schemas.openxmlformats.org/package/2006/content-types">
  <ns0:Default Extension="bin" ContentType="application/vnd.openxmlformats-officedocument.presentationml.printerSettings"/>
  <ns0:Default Extension="jpeg" ContentType="image/jpeg"/>
  <ns0:Default Extension="png" ContentType="image/png"/>
  <ns0:Default Extension="rels" ContentType="application/vnd.openxmlformats-package.relationships+xml"/>
  <ns0:Default Extension="xml" ContentType="application/xml"/>
  <ns0:Override PartName="/docProps/app.xml" ContentType="application/vnd.openxmlformats-officedocument.extended-properties+xml"/>
  <ns0:Override PartName="/docProps/core.xml" ContentType="application/vnd.openxmlformats-package.core-properties+xml"/>
  <ns0:Override PartName="/ppt/presProps.xml" ContentType="application/vnd.openxmlformats-officedocument.presentationml.presProps+xml"/>
  <ns0:Override PartName="/ppt/presentation.xml" ContentType="application/vnd.openxmlformats-officedocument.presentationml.presentation.main+xml"/>
  <ns0:Override PartName="/ppt/slideLayouts/slideLayout1.xml" ContentType="application/vnd.openxmlformats-officedocument.presentationml.slideLayout+xml"/>
  <ns0:Override PartName="/ppt/slideLayouts/slideLayout10.xml" ContentType="application/vnd.openxmlformats-officedocument.presentationml.slideLayout+xml"/>
  <ns0:Override PartName="/ppt/slideLayouts/slideLayout11.xml" ContentType="application/vnd.openxmlformats-officedocument.presentationml.slideLayout+xml"/>
  <ns0:Override PartName="/ppt/slideLayouts/slideLayout2.xml" ContentType="application/vnd.openxmlformats-officedocument.presentationml.slideLayout+xml"/>
  <ns0:Override PartName="/ppt/slideLayouts/slideLayout3.xml" ContentType="application/vnd.openxmlformats-officedocument.presentationml.slideLayout+xml"/>
  <ns0:Override PartName="/ppt/slideLayouts/slideLayout4.xml" ContentType="application/vnd.openxmlformats-officedocument.presentationml.slideLayout+xml"/>
  <ns0:Override PartName="/ppt/slideLayouts/slideLayout5.xml" ContentType="application/vnd.openxmlformats-officedocument.presentationml.slideLayout+xml"/>
  <ns0:Override PartName="/ppt/slideLayouts/slideLayout6.xml" ContentType="application/vnd.openxmlformats-officedocument.presentationml.slideLayout+xml"/>
  <ns0:Override PartName="/ppt/slideLayouts/slideLayout7.xml" ContentType="application/vnd.openxmlformats-officedocument.presentationml.slideLayout+xml"/>
  <ns0:Override PartName="/ppt/slideLayouts/slideLayout8.xml" ContentType="application/vnd.openxmlformats-officedocument.presentationml.slideLayout+xml"/>
  <ns0:Override PartName="/ppt/slideLayouts/slideLayout9.xml" ContentType="application/vnd.openxmlformats-officedocument.presentationml.slideLayout+xml"/>
  <ns0:Override PartName="/ppt/slideMasters/slideMaster1.xml" ContentType="application/vnd.openxmlformats-officedocument.presentationml.slideMaster+xml"/>
  <ns0:Override PartName="/ppt/slides/slide1.xml" ContentType="application/vnd.openxmlformats-officedocument.presentationml.slide+xml"/>
  <ns0:Override PartName="/ppt/slides/slide10.xml" ContentType="application/vnd.openxmlformats-officedocument.presentationml.slide+xml"/>
  <ns0:Override PartName="/ppt/slides/slide11.xml" ContentType="application/vnd.openxmlformats-officedocument.presentationml.slide+xml"/>
  <ns0:Override PartName="/ppt/slides/slide2.xml" ContentType="application/vnd.openxmlformats-officedocument.presentationml.slide+xml"/>
  <ns0:Override PartName="/ppt/slides/slide3.xml" ContentType="application/vnd.openxmlformats-officedocument.presentationml.slide+xml"/>
  <ns0:Override PartName="/ppt/slides/slide4.xml" ContentType="application/vnd.openxmlformats-officedocument.presentationml.slide+xml"/>
  <ns0:Override PartName="/ppt/slides/slide5.xml" ContentType="application/vnd.openxmlformats-officedocument.presentationml.slide+xml"/>
  <ns0:Override PartName="/ppt/slides/slide6.xml" ContentType="application/vnd.openxmlformats-officedocument.presentationml.slide+xml"/>
  <ns0:Override PartName="/ppt/slides/slide7.xml" ContentType="application/vnd.openxmlformats-officedocument.presentationml.slide+xml"/>
  <ns0:Override PartName="/ppt/slides/slide8.xml" ContentType="application/vnd.openxmlformats-officedocument.presentationml.slide+xml"/>
  <ns0:Override PartName="/ppt/slides/slide9.xml" ContentType="application/vnd.openxmlformats-officedocument.presentationml.slide+xml"/>
  <ns0:Override PartName="/ppt/tableStyles.xml" ContentType="application/vnd.openxmlformats-officedocument.presentationml.tableStyles+xml"/>
  <ns0:Override PartName="/ppt/theme/theme1.xml" ContentType="application/vnd.openxmlformats-officedocument.theme+xml"/>
  <ns0:Override PartName="/ppt/viewProps.xml" ContentType="application/vnd.openxmlformats-officedocument.presentationml.viewProps+xml"/>
  <ns0:Default Extension="fntdata" ContentType="application/x-fontdata"/>
</ns0: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ns0:presentation xmlns:ns0="http://schemas.openxmlformats.org/presentationml/2006/main" xmlns:ns1="http://schemas.openxmlformats.org/officeDocument/2006/relationships" xmlns:ns2="http://schemas.openxmlformats.org/drawingml/2006/main" saveSubsetFonts="1" autoCompressPictures="0" embedTrueTypeFonts="1">
  <ns0:sldMasterIdLst>
    <ns0:sldMasterId id="2147483648" ns1:id="rId1"/>
  </ns0:sldMasterIdLst>
  <ns0:sldIdLst>
    <ns0:sldId id="256" ns1:id="rId7"/>
    <ns0:sldId id="257" ns1:id="rId8"/>
    <ns0:sldId id="258" ns1:id="rId9"/>
    <ns0:sldId id="259" ns1:id="rId10"/>
    <ns0:sldId id="260" ns1:id="rId11"/>
    <ns0:sldId id="261" ns1:id="rId12"/>
    <ns0:sldId id="262" ns1:id="rId13"/>
    <ns0:sldId id="263" ns1:id="rId14"/>
    <ns0:sldId id="264" ns1:id="rId15"/>
    <ns0:sldId id="265" ns1:id="rId16"/>
    <ns0:sldId id="266" ns1:id="rId17"/>
  </ns0:sldIdLst>
  <ns0:sldSz cx="12192000" cy="6858000" type="screen4x3"/>
  <ns0:notesSz cx="6858000" cy="9144000"/>
  <ns0:embeddedFontLst>
    <ns0:embeddedFont>
      <ns0:font typeface="Plus Jakarta Sans"/>
      <ns0:bold ns1:id="rIdFont18"/>
      <ns0:regular ns1:id="rIdFont19"/>
    </ns0:embeddedFont>
    <ns0:embeddedFont>
      <ns0:font typeface="JetBrains Mono"/>
      <ns0:bold ns1:id="rIdFont20"/>
    </ns0:embeddedFont>
  </ns0:embeddedFontLst>
  <ns0:defaultTextStyle>
    <ns2:defPPr>
      <ns2:defRPr lang="en-US"/>
    </ns2:defPPr>
    <ns2:lvl1pPr marL="0" algn="l" defTabSz="457200" rtl="0" eaLnBrk="1" latinLnBrk="0" hangingPunct="1">
      <ns2:defRPr sz="1800" kern="1200">
        <ns2:solidFill>
          <ns2:schemeClr val="tx1"/>
        </ns2:solidFill>
        <ns2:latin typeface="+mn-lt"/>
        <ns2:ea typeface="+mn-ea"/>
        <ns2:cs typeface="+mn-cs"/>
      </ns2:defRPr>
    </ns2:lvl1pPr>
    <ns2:lvl2pPr marL="457200" algn="l" defTabSz="457200" rtl="0" eaLnBrk="1" latinLnBrk="0" hangingPunct="1">
      <ns2:defRPr sz="1800" kern="1200">
        <ns2:solidFill>
          <ns2:schemeClr val="tx1"/>
        </ns2:solidFill>
        <ns2:latin typeface="+mn-lt"/>
        <ns2:ea typeface="+mn-ea"/>
        <ns2:cs typeface="+mn-cs"/>
      </ns2:defRPr>
    </ns2:lvl2pPr>
    <ns2:lvl3pPr marL="914400" algn="l" defTabSz="457200" rtl="0" eaLnBrk="1" latinLnBrk="0" hangingPunct="1">
      <ns2:defRPr sz="1800" kern="1200">
        <ns2:solidFill>
          <ns2:schemeClr val="tx1"/>
        </ns2:solidFill>
        <ns2:latin typeface="+mn-lt"/>
        <ns2:ea typeface="+mn-ea"/>
        <ns2:cs typeface="+mn-cs"/>
      </ns2:defRPr>
    </ns2:lvl3pPr>
    <ns2:lvl4pPr marL="1371600" algn="l" defTabSz="457200" rtl="0" eaLnBrk="1" latinLnBrk="0" hangingPunct="1">
      <ns2:defRPr sz="1800" kern="1200">
        <ns2:solidFill>
          <ns2:schemeClr val="tx1"/>
        </ns2:solidFill>
        <ns2:latin typeface="+mn-lt"/>
        <ns2:ea typeface="+mn-ea"/>
        <ns2:cs typeface="+mn-cs"/>
      </ns2:defRPr>
    </ns2:lvl4pPr>
    <ns2:lvl5pPr marL="1828800" algn="l" defTabSz="457200" rtl="0" eaLnBrk="1" latinLnBrk="0" hangingPunct="1">
      <ns2:defRPr sz="1800" kern="1200">
        <ns2:solidFill>
          <ns2:schemeClr val="tx1"/>
        </ns2:solidFill>
        <ns2:latin typeface="+mn-lt"/>
        <ns2:ea typeface="+mn-ea"/>
        <ns2:cs typeface="+mn-cs"/>
      </ns2:defRPr>
    </ns2:lvl5pPr>
    <ns2:lvl6pPr marL="2286000" algn="l" defTabSz="457200" rtl="0" eaLnBrk="1" latinLnBrk="0" hangingPunct="1">
      <ns2:defRPr sz="1800" kern="1200">
        <ns2:solidFill>
          <ns2:schemeClr val="tx1"/>
        </ns2:solidFill>
        <ns2:latin typeface="+mn-lt"/>
        <ns2:ea typeface="+mn-ea"/>
        <ns2:cs typeface="+mn-cs"/>
      </ns2:defRPr>
    </ns2:lvl6pPr>
    <ns2:lvl7pPr marL="2743200" algn="l" defTabSz="457200" rtl="0" eaLnBrk="1" latinLnBrk="0" hangingPunct="1">
      <ns2:defRPr sz="1800" kern="1200">
        <ns2:solidFill>
          <ns2:schemeClr val="tx1"/>
        </ns2:solidFill>
        <ns2:latin typeface="+mn-lt"/>
        <ns2:ea typeface="+mn-ea"/>
        <ns2:cs typeface="+mn-cs"/>
      </ns2:defRPr>
    </ns2:lvl7pPr>
    <ns2:lvl8pPr marL="3200400" algn="l" defTabSz="457200" rtl="0" eaLnBrk="1" latinLnBrk="0" hangingPunct="1">
      <ns2:defRPr sz="1800" kern="1200">
        <ns2:solidFill>
          <ns2:schemeClr val="tx1"/>
        </ns2:solidFill>
        <ns2:latin typeface="+mn-lt"/>
        <ns2:ea typeface="+mn-ea"/>
        <ns2:cs typeface="+mn-cs"/>
      </ns2:defRPr>
    </ns2:lvl8pPr>
    <ns2:lvl9pPr marL="3657600" algn="l" defTabSz="457200" rtl="0" eaLnBrk="1" latinLnBrk="0" hangingPunct="1">
      <ns2:defRPr sz="1800" kern="1200">
        <ns2:solidFill>
          <ns2:schemeClr val="tx1"/>
        </ns2:solidFill>
        <ns2:latin typeface="+mn-lt"/>
        <ns2:ea typeface="+mn-ea"/>
        <ns2:cs typeface="+mn-cs"/>
      </ns2:defRPr>
    </ns2:lvl9pPr>
  </ns0:defaultTextStyle>
</ns0: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ns0:Relationships xmlns:ns0="http://schemas.openxmlformats.org/package/2006/relationships"><ns0:Relationship Id="rId1" Type="http://schemas.openxmlformats.org/officeDocument/2006/relationships/slideMaster" Target="slideMasters/slideMaster1.xml" /><ns0:Relationship Id="rId2" Type="http://schemas.openxmlformats.org/officeDocument/2006/relationships/printerSettings" Target="printerSettings/printerSettings1.bin" /><ns0:Relationship Id="rId3" Type="http://schemas.openxmlformats.org/officeDocument/2006/relationships/presProps" Target="presProps.xml" /><ns0:Relationship Id="rId4" Type="http://schemas.openxmlformats.org/officeDocument/2006/relationships/viewProps" Target="viewProps.xml" /><ns0:Relationship Id="rId5" Type="http://schemas.openxmlformats.org/officeDocument/2006/relationships/theme" Target="theme/theme1.xml" /><ns0:Relationship Id="rId6" Type="http://schemas.openxmlformats.org/officeDocument/2006/relationships/tableStyles" Target="tableStyles.xml" /><ns0:Relationship Id="rId7" Type="http://schemas.openxmlformats.org/officeDocument/2006/relationships/slide" Target="slides/slide1.xml" /><ns0:Relationship Id="rId8" Type="http://schemas.openxmlformats.org/officeDocument/2006/relationships/slide" Target="slides/slide2.xml" /><ns0:Relationship Id="rId9" Type="http://schemas.openxmlformats.org/officeDocument/2006/relationships/slide" Target="slides/slide3.xml" /><ns0:Relationship Id="rId10" Type="http://schemas.openxmlformats.org/officeDocument/2006/relationships/slide" Target="slides/slide4.xml" /><ns0:Relationship Id="rId11" Type="http://schemas.openxmlformats.org/officeDocument/2006/relationships/slide" Target="slides/slide5.xml" /><ns0:Relationship Id="rId12" Type="http://schemas.openxmlformats.org/officeDocument/2006/relationships/slide" Target="slides/slide6.xml" /><ns0:Relationship Id="rId13" Type="http://schemas.openxmlformats.org/officeDocument/2006/relationships/slide" Target="slides/slide7.xml" /><ns0:Relationship Id="rId14" Type="http://schemas.openxmlformats.org/officeDocument/2006/relationships/slide" Target="slides/slide8.xml" /><ns0:Relationship Id="rId15" Type="http://schemas.openxmlformats.org/officeDocument/2006/relationships/slide" Target="slides/slide9.xml" /><ns0:Relationship Id="rId16" Type="http://schemas.openxmlformats.org/officeDocument/2006/relationships/slide" Target="slides/slide10.xml" /><ns0:Relationship Id="rId17" Type="http://schemas.openxmlformats.org/officeDocument/2006/relationships/slide" Target="slides/slide11.xml" /><ns0:Relationship Id="rIdFont18" Type="http://schemas.openxmlformats.org/officeDocument/2006/relationships/font" Target="fonts/8a622f3a-c9eb-476e-91c7-166be4d1d3af.fntdata" /><ns0:Relationship Id="rIdFont19" Type="http://schemas.openxmlformats.org/officeDocument/2006/relationships/font" Target="fonts/60bd0fd3-62bb-47d7-95f4-5053fdf15c1f.fntdata" /><ns0:Relationship Id="rIdFont20" Type="http://schemas.openxmlformats.org/officeDocument/2006/relationships/font" Target="fonts/f6d45b61-494f-4a1f-9394-f9c44478ad3d.fntdata" /></ns0: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609600" y="4589115"/>
            <a:ext cx="4029075" cy="428625"/>
          </a:xfrm>
          <a:prstGeom prst="rect">
            <a:avLst/>
          </a:prstGeom>
          <a:solidFill>
            <a:srgbClr val="1E293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09600" y="4589115"/>
            <a:ext cx="38100" cy="428625"/>
          </a:xfrm>
          <a:prstGeom prst="rect">
            <a:avLst/>
          </a:prstGeom>
          <a:solidFill>
            <a:srgbClr val="38B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09600" y="1840259"/>
            <a:ext cx="266700" cy="266700"/>
          </a:xfrm>
          <a:prstGeom prst="rect">
            <a:avLst/>
          </a:prstGeom>
        </p:spPr>
      </p:pic>
      <p:sp>
        <p:nvSpPr>
          <p:cNvPr id="5" name="TextBox 4"/>
          <p:cNvSpPr txBox="1"/>
          <p:nvPr/>
        </p:nvSpPr>
        <p:spPr>
          <a:xfrm>
            <a:off x="609600" y="2335559"/>
            <a:ext cx="9301162" cy="1095375"/>
          </a:xfrm>
          <a:prstGeom prst="rect">
            <a:avLst/>
          </a:prstGeom>
          <a:noFill/>
        </p:spPr>
        <p:txBody>
          <a:bodyPr wrap="square" lIns="0" rIns="0" tIns="0" bIns="0" anchor="t">
            <a:spAutoFit/>
          </a:bodyPr>
          <a:lstStyle/>
          <a:p>
            <a:pPr algn="l">
              <a:lnSpc>
                <a:spcPts val="4312"/>
              </a:lnSpc>
            </a:pPr>
            <a:r>
              <a:rPr b="1" sz="3750" i="0" u="none">
                <a:solidFill>
                  <a:srgbClr val="F8FAFC"/>
                </a:solidFill>
                <a:latin typeface="Plus Jakarta Sans"/>
              </a:rPr>
              <a:t>National Digital Scam Incident Response (NDSIR)</a:t>
            </a:r>
          </a:p>
        </p:txBody>
      </p:sp>
      <p:sp>
        <p:nvSpPr>
          <p:cNvPr id="6" name="TextBox 5"/>
          <p:cNvSpPr txBox="1"/>
          <p:nvPr/>
        </p:nvSpPr>
        <p:spPr>
          <a:xfrm>
            <a:off x="609600" y="3621434"/>
            <a:ext cx="7905750" cy="586680"/>
          </a:xfrm>
          <a:prstGeom prst="rect">
            <a:avLst/>
          </a:prstGeom>
          <a:noFill/>
        </p:spPr>
        <p:txBody>
          <a:bodyPr wrap="square" lIns="0" rIns="0" tIns="0" bIns="0" anchor="t">
            <a:spAutoFit/>
          </a:bodyPr>
          <a:lstStyle/>
          <a:p>
            <a:pPr algn="l">
              <a:lnSpc>
                <a:spcPts val="2310"/>
              </a:lnSpc>
            </a:pPr>
            <a:r>
              <a:rPr b="0" sz="1650" i="0" u="none">
                <a:solidFill>
                  <a:srgbClr val="94A3B8"/>
                </a:solidFill>
                <a:latin typeface="Plus Jakarta Sans"/>
              </a:rPr>
              <a:t>A single national system that connects all banks and Telebirr to freeze stolen money in seconds before scammers can withdraw it.</a:t>
            </a:r>
          </a:p>
        </p:txBody>
      </p:sp>
      <p:sp>
        <p:nvSpPr>
          <p:cNvPr id="7" name="TextBox 6"/>
          <p:cNvSpPr txBox="1"/>
          <p:nvPr/>
        </p:nvSpPr>
        <p:spPr>
          <a:xfrm>
            <a:off x="990600" y="1873597"/>
            <a:ext cx="3012281" cy="200025"/>
          </a:xfrm>
          <a:prstGeom prst="rect">
            <a:avLst/>
          </a:prstGeom>
          <a:noFill/>
        </p:spPr>
        <p:txBody>
          <a:bodyPr wrap="none" lIns="0" rIns="0" tIns="0" bIns="0" anchor="t">
            <a:spAutoFit/>
          </a:bodyPr>
          <a:lstStyle/>
          <a:p>
            <a:pPr algn="l"/>
            <a:r>
              <a:rPr b="1" sz="1200" i="0" u="none">
                <a:solidFill>
                  <a:srgbClr val="38BDF8"/>
                </a:solidFill>
                <a:latin typeface="JetBrains Mono"/>
              </a:rPr>
              <a:t>NATIONAL CYBER DEFENSE</a:t>
            </a:r>
          </a:p>
        </p:txBody>
      </p:sp>
      <p:sp>
        <p:nvSpPr>
          <p:cNvPr id="8" name="TextBox 7"/>
          <p:cNvSpPr txBox="1"/>
          <p:nvPr/>
        </p:nvSpPr>
        <p:spPr>
          <a:xfrm>
            <a:off x="800100" y="4703415"/>
            <a:ext cx="3743325" cy="200025"/>
          </a:xfrm>
          <a:prstGeom prst="rect">
            <a:avLst/>
          </a:prstGeom>
          <a:noFill/>
        </p:spPr>
        <p:txBody>
          <a:bodyPr wrap="square" lIns="0" rIns="0" tIns="0" bIns="0" anchor="t">
            <a:spAutoFit/>
          </a:bodyPr>
          <a:lstStyle/>
          <a:p>
            <a:pPr algn="l"/>
            <a:r>
              <a:rPr b="1" sz="1125" i="0" u="none">
                <a:solidFill>
                  <a:srgbClr val="F8FAFC"/>
                </a:solidFill>
                <a:latin typeface="Plus Jakarta Sans"/>
              </a:rPr>
              <a:t>Centralized Scam Emergency Response for Ethiopia</a:t>
            </a:r>
          </a:p>
        </p:txBody>
      </p:sp>
      <p:sp>
        <p:nvSpPr>
          <p:cNvPr id="9" name="TextBox 8"/>
          <p:cNvSpPr txBox="1"/>
          <p:nvPr/>
        </p:nvSpPr>
        <p:spPr>
          <a:xfrm>
            <a:off x="4829175" y="4717702"/>
            <a:ext cx="2190750" cy="171450"/>
          </a:xfrm>
          <a:prstGeom prst="rect">
            <a:avLst/>
          </a:prstGeom>
          <a:noFill/>
        </p:spPr>
        <p:txBody>
          <a:bodyPr wrap="none" lIns="0" rIns="0" tIns="0" bIns="0" anchor="t">
            <a:spAutoFit/>
          </a:bodyPr>
          <a:lstStyle/>
          <a:p>
            <a:pPr algn="l"/>
            <a:r>
              <a:rPr b="0" sz="1050" i="0" u="none">
                <a:solidFill>
                  <a:srgbClr val="64748B"/>
                </a:solidFill>
                <a:latin typeface="Plus Jakarta Sans"/>
              </a:rPr>
              <a:t>Ethio-CSIRT / INSA Proposal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652117"/>
            <a:ext cx="3505200" cy="2471737"/>
          </a:xfrm>
          <a:prstGeom prst="roundRect">
            <a:avLst>
              <a:gd name="adj" fmla="val 462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759273"/>
            <a:ext cx="3505200" cy="2257425"/>
          </a:xfrm>
          <a:prstGeom prst="roundRect">
            <a:avLst>
              <a:gd name="adj" fmla="val 50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759273"/>
            <a:ext cx="3505200" cy="2257425"/>
          </a:xfrm>
          <a:prstGeom prst="roundRect">
            <a:avLst>
              <a:gd name="adj" fmla="val 5063"/>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2652117"/>
            <a:ext cx="3505200" cy="381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43400" y="2759273"/>
            <a:ext cx="3505200" cy="381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77200" y="2759273"/>
            <a:ext cx="3505200" cy="38100"/>
          </a:xfrm>
          <a:prstGeom prst="rect">
            <a:avLst/>
          </a:prstGeom>
          <a:solidFill>
            <a:srgbClr val="DC26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38200" y="2995017"/>
            <a:ext cx="304800" cy="304800"/>
          </a:xfrm>
          <a:prstGeom prst="rect">
            <a:avLst/>
          </a:prstGeom>
        </p:spPr>
      </p:pic>
      <p:pic>
        <p:nvPicPr>
          <p:cNvPr id="9" name="Picture 8" descr="image.png"/>
          <p:cNvPicPr>
            <a:picLocks noChangeAspect="1"/>
          </p:cNvPicPr>
          <p:nvPr/>
        </p:nvPicPr>
        <p:blipFill>
          <a:blip r:embed="rId3"/>
          <a:stretch>
            <a:fillRect/>
          </a:stretch>
        </p:blipFill>
        <p:spPr>
          <a:xfrm>
            <a:off x="4572000" y="3102173"/>
            <a:ext cx="381000" cy="304800"/>
          </a:xfrm>
          <a:prstGeom prst="rect">
            <a:avLst/>
          </a:prstGeom>
        </p:spPr>
      </p:pic>
      <p:pic>
        <p:nvPicPr>
          <p:cNvPr id="10" name="Picture 9" descr="image.png"/>
          <p:cNvPicPr>
            <a:picLocks noChangeAspect="1"/>
          </p:cNvPicPr>
          <p:nvPr/>
        </p:nvPicPr>
        <p:blipFill>
          <a:blip r:embed="rId4"/>
          <a:stretch>
            <a:fillRect/>
          </a:stretch>
        </p:blipFill>
        <p:spPr>
          <a:xfrm>
            <a:off x="8305800" y="3102173"/>
            <a:ext cx="266700" cy="304800"/>
          </a:xfrm>
          <a:prstGeom prst="rect">
            <a:avLst/>
          </a:prstGeom>
        </p:spPr>
      </p:pic>
      <p:sp>
        <p:nvSpPr>
          <p:cNvPr id="11" name="TextBox 10"/>
          <p:cNvSpPr txBox="1"/>
          <p:nvPr/>
        </p:nvSpPr>
        <p:spPr>
          <a:xfrm>
            <a:off x="609600" y="533400"/>
            <a:ext cx="11582400" cy="171450"/>
          </a:xfrm>
          <a:prstGeom prst="rect">
            <a:avLst/>
          </a:prstGeom>
          <a:noFill/>
        </p:spPr>
        <p:txBody>
          <a:bodyPr wrap="none" lIns="0" rIns="0" tIns="0" bIns="0" anchor="t">
            <a:spAutoFit/>
          </a:bodyPr>
          <a:lstStyle/>
          <a:p>
            <a:pPr algn="l"/>
            <a:r>
              <a:rPr b="1" sz="1050" i="0" u="none">
                <a:solidFill>
                  <a:srgbClr val="DC2626"/>
                </a:solidFill>
                <a:latin typeface="JetBrains Mono"/>
              </a:rPr>
              <a:t>THE PROBLEM IN ETHIOPIA</a:t>
            </a:r>
          </a:p>
        </p:txBody>
      </p:sp>
      <p:sp>
        <p:nvSpPr>
          <p:cNvPr id="12" name="TextBox 11"/>
          <p:cNvSpPr txBox="1"/>
          <p:nvPr/>
        </p:nvSpPr>
        <p:spPr>
          <a:xfrm>
            <a:off x="609600" y="781050"/>
            <a:ext cx="11582400" cy="365670"/>
          </a:xfrm>
          <a:prstGeom prst="rect">
            <a:avLst/>
          </a:prstGeom>
          <a:noFill/>
        </p:spPr>
        <p:txBody>
          <a:bodyPr wrap="none" lIns="0" rIns="0" tIns="0" bIns="0" anchor="t">
            <a:spAutoFit/>
          </a:bodyPr>
          <a:lstStyle/>
          <a:p>
            <a:pPr algn="l">
              <a:lnSpc>
                <a:spcPts val="2879"/>
              </a:lnSpc>
            </a:pPr>
            <a:r>
              <a:rPr b="1" sz="2400" i="0" u="none">
                <a:solidFill>
                  <a:srgbClr val="0F172A"/>
                </a:solidFill>
                <a:latin typeface="Plus Jakarta Sans"/>
              </a:rPr>
              <a:t>Why Scammers Are Winning Today</a:t>
            </a:r>
          </a:p>
        </p:txBody>
      </p:sp>
      <p:sp>
        <p:nvSpPr>
          <p:cNvPr id="13" name="TextBox 12"/>
          <p:cNvSpPr txBox="1"/>
          <p:nvPr/>
        </p:nvSpPr>
        <p:spPr>
          <a:xfrm>
            <a:off x="838200" y="3452217"/>
            <a:ext cx="4000500" cy="219075"/>
          </a:xfrm>
          <a:prstGeom prst="rect">
            <a:avLst/>
          </a:prstGeom>
          <a:noFill/>
        </p:spPr>
        <p:txBody>
          <a:bodyPr wrap="none" lIns="0" rIns="0" tIns="0" bIns="0" anchor="t">
            <a:spAutoFit/>
          </a:bodyPr>
          <a:lstStyle/>
          <a:p>
            <a:pPr algn="l"/>
            <a:r>
              <a:rPr b="1" sz="1350" i="0" u="none">
                <a:solidFill>
                  <a:srgbClr val="0F172A"/>
                </a:solidFill>
                <a:latin typeface="Plus Jakarta Sans"/>
              </a:rPr>
              <a:t>Slow Reaction Time</a:t>
            </a:r>
          </a:p>
        </p:txBody>
      </p:sp>
      <p:sp>
        <p:nvSpPr>
          <p:cNvPr id="14" name="TextBox 13"/>
          <p:cNvSpPr txBox="1"/>
          <p:nvPr/>
        </p:nvSpPr>
        <p:spPr>
          <a:xfrm>
            <a:off x="838200" y="3747492"/>
            <a:ext cx="3143250" cy="1071562"/>
          </a:xfrm>
          <a:prstGeom prst="rect">
            <a:avLst/>
          </a:prstGeom>
          <a:noFill/>
        </p:spPr>
        <p:txBody>
          <a:bodyPr wrap="square" lIns="0" rIns="0" tIns="0" bIns="0" anchor="t">
            <a:spAutoFit/>
          </a:bodyPr>
          <a:lstStyle/>
          <a:p>
            <a:pPr algn="l">
              <a:lnSpc>
                <a:spcPts val="1687"/>
              </a:lnSpc>
            </a:pPr>
            <a:r>
              <a:rPr b="0" sz="1125" i="0" u="none">
                <a:solidFill>
                  <a:srgbClr val="475569"/>
                </a:solidFill>
                <a:latin typeface="Plus Jakarta Sans"/>
              </a:rPr>
              <a:t>When money is stolen from one bank and sent to another, it takes hours or days of paperwork to freeze the receiving account. By then, the scammer has already taken the cash at an ATM or agent.</a:t>
            </a:r>
          </a:p>
        </p:txBody>
      </p:sp>
      <p:sp>
        <p:nvSpPr>
          <p:cNvPr id="15" name="TextBox 14"/>
          <p:cNvSpPr txBox="1"/>
          <p:nvPr/>
        </p:nvSpPr>
        <p:spPr>
          <a:xfrm>
            <a:off x="4572000" y="3559373"/>
            <a:ext cx="4000500" cy="219075"/>
          </a:xfrm>
          <a:prstGeom prst="rect">
            <a:avLst/>
          </a:prstGeom>
          <a:noFill/>
        </p:spPr>
        <p:txBody>
          <a:bodyPr wrap="none" lIns="0" rIns="0" tIns="0" bIns="0" anchor="t">
            <a:spAutoFit/>
          </a:bodyPr>
          <a:lstStyle/>
          <a:p>
            <a:pPr algn="l"/>
            <a:r>
              <a:rPr b="1" sz="1350" i="0" u="none">
                <a:solidFill>
                  <a:srgbClr val="0F172A"/>
                </a:solidFill>
                <a:latin typeface="Plus Jakarta Sans"/>
              </a:rPr>
              <a:t>Banks Don't Talk to Each Other</a:t>
            </a:r>
          </a:p>
        </p:txBody>
      </p:sp>
      <p:sp>
        <p:nvSpPr>
          <p:cNvPr id="16" name="TextBox 15"/>
          <p:cNvSpPr txBox="1"/>
          <p:nvPr/>
        </p:nvSpPr>
        <p:spPr>
          <a:xfrm>
            <a:off x="4572000" y="3854648"/>
            <a:ext cx="3143250" cy="857250"/>
          </a:xfrm>
          <a:prstGeom prst="rect">
            <a:avLst/>
          </a:prstGeom>
          <a:noFill/>
        </p:spPr>
        <p:txBody>
          <a:bodyPr wrap="square" lIns="0" rIns="0" tIns="0" bIns="0" anchor="t">
            <a:spAutoFit/>
          </a:bodyPr>
          <a:lstStyle/>
          <a:p>
            <a:pPr algn="l">
              <a:lnSpc>
                <a:spcPts val="1687"/>
              </a:lnSpc>
            </a:pPr>
            <a:r>
              <a:rPr b="0" sz="1125" i="0" u="none">
                <a:solidFill>
                  <a:srgbClr val="475569"/>
                </a:solidFill>
                <a:latin typeface="Plus Jakarta Sans"/>
              </a:rPr>
              <a:t>Commercial Bank of Ethiopia (CBE), private banks, and Telebirr operate separately. Scammers move money across multiple platforms to hide their track.</a:t>
            </a:r>
          </a:p>
        </p:txBody>
      </p:sp>
      <p:sp>
        <p:nvSpPr>
          <p:cNvPr id="17" name="TextBox 16"/>
          <p:cNvSpPr txBox="1"/>
          <p:nvPr/>
        </p:nvSpPr>
        <p:spPr>
          <a:xfrm>
            <a:off x="8305800" y="3559373"/>
            <a:ext cx="3886200" cy="219075"/>
          </a:xfrm>
          <a:prstGeom prst="rect">
            <a:avLst/>
          </a:prstGeom>
          <a:noFill/>
        </p:spPr>
        <p:txBody>
          <a:bodyPr wrap="none" lIns="0" rIns="0" tIns="0" bIns="0" anchor="t">
            <a:spAutoFit/>
          </a:bodyPr>
          <a:lstStyle/>
          <a:p>
            <a:pPr algn="l"/>
            <a:r>
              <a:rPr b="1" sz="1350" i="0" u="none">
                <a:solidFill>
                  <a:srgbClr val="0F172A"/>
                </a:solidFill>
                <a:latin typeface="Plus Jakarta Sans"/>
              </a:rPr>
              <a:t>Inside &amp; Outside Scams</a:t>
            </a:r>
          </a:p>
        </p:txBody>
      </p:sp>
      <p:sp>
        <p:nvSpPr>
          <p:cNvPr id="18" name="TextBox 17"/>
          <p:cNvSpPr txBox="1"/>
          <p:nvPr/>
        </p:nvSpPr>
        <p:spPr>
          <a:xfrm>
            <a:off x="8305800" y="3854648"/>
            <a:ext cx="3143250" cy="857250"/>
          </a:xfrm>
          <a:prstGeom prst="rect">
            <a:avLst/>
          </a:prstGeom>
          <a:noFill/>
        </p:spPr>
        <p:txBody>
          <a:bodyPr wrap="square" lIns="0" rIns="0" tIns="0" bIns="0" anchor="t">
            <a:spAutoFit/>
          </a:bodyPr>
          <a:lstStyle/>
          <a:p>
            <a:pPr algn="l">
              <a:lnSpc>
                <a:spcPts val="1687"/>
              </a:lnSpc>
            </a:pPr>
            <a:r>
              <a:rPr b="0" sz="1125" i="0" u="none">
                <a:solidFill>
                  <a:srgbClr val="475569"/>
                </a:solidFill>
                <a:latin typeface="Plus Jakarta Sans"/>
              </a:rPr>
              <a:t>Scammers trick citizens through fake calls, fake reward messages, and sometimes leverage compromised internal access, leaving victims with no clear way to get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686050"/>
            <a:ext cx="5334000" cy="2419350"/>
          </a:xfrm>
          <a:prstGeom prst="roundRect">
            <a:avLst>
              <a:gd name="adj" fmla="val 6299"/>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248400" y="2800350"/>
            <a:ext cx="5334000" cy="2190750"/>
          </a:xfrm>
          <a:prstGeom prst="roundRect">
            <a:avLst>
              <a:gd name="adj" fmla="val 6956"/>
            </a:avLst>
          </a:prstGeom>
          <a:solidFill>
            <a:srgbClr val="F0F9FF"/>
          </a:solidFill>
          <a:ln w="9525">
            <a:solidFill>
              <a:srgbClr val="BAE6F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923925" y="3000375"/>
            <a:ext cx="304800" cy="342900"/>
          </a:xfrm>
          <a:prstGeom prst="rect">
            <a:avLst/>
          </a:prstGeom>
        </p:spPr>
      </p:pic>
      <p:pic>
        <p:nvPicPr>
          <p:cNvPr id="5" name="Picture 4" descr="image.png"/>
          <p:cNvPicPr>
            <a:picLocks noChangeAspect="1"/>
          </p:cNvPicPr>
          <p:nvPr/>
        </p:nvPicPr>
        <p:blipFill>
          <a:blip r:embed="rId3"/>
          <a:stretch>
            <a:fillRect/>
          </a:stretch>
        </p:blipFill>
        <p:spPr>
          <a:xfrm>
            <a:off x="6562725" y="3114675"/>
            <a:ext cx="428625" cy="342900"/>
          </a:xfrm>
          <a:prstGeom prst="rect">
            <a:avLst/>
          </a:prstGeom>
        </p:spPr>
      </p:pic>
      <p:sp>
        <p:nvSpPr>
          <p:cNvPr id="6" name="TextBox 5"/>
          <p:cNvSpPr txBox="1"/>
          <p:nvPr/>
        </p:nvSpPr>
        <p:spPr>
          <a:xfrm>
            <a:off x="609600" y="533400"/>
            <a:ext cx="11582400" cy="171450"/>
          </a:xfrm>
          <a:prstGeom prst="rect">
            <a:avLst/>
          </a:prstGeom>
          <a:noFill/>
        </p:spPr>
        <p:txBody>
          <a:bodyPr wrap="none" lIns="0" rIns="0" tIns="0" bIns="0" anchor="t">
            <a:spAutoFit/>
          </a:bodyPr>
          <a:lstStyle/>
          <a:p>
            <a:pPr algn="l"/>
            <a:r>
              <a:rPr b="1" sz="1050" i="0" u="none">
                <a:solidFill>
                  <a:srgbClr val="0284C7"/>
                </a:solidFill>
                <a:latin typeface="JetBrains Mono"/>
              </a:rPr>
              <a:t>THE SOLUTION</a:t>
            </a:r>
          </a:p>
        </p:txBody>
      </p:sp>
      <p:sp>
        <p:nvSpPr>
          <p:cNvPr id="7" name="TextBox 6"/>
          <p:cNvSpPr txBox="1"/>
          <p:nvPr/>
        </p:nvSpPr>
        <p:spPr>
          <a:xfrm>
            <a:off x="609600" y="781050"/>
            <a:ext cx="11582400" cy="381000"/>
          </a:xfrm>
          <a:prstGeom prst="rect">
            <a:avLst/>
          </a:prstGeom>
          <a:noFill/>
        </p:spPr>
        <p:txBody>
          <a:bodyPr wrap="none" lIns="0" rIns="0" tIns="0" bIns="0" anchor="t">
            <a:spAutoFit/>
          </a:bodyPr>
          <a:lstStyle/>
          <a:p>
            <a:pPr algn="l"/>
            <a:r>
              <a:rPr b="1" sz="2400" i="0" u="none">
                <a:solidFill>
                  <a:srgbClr val="0F172A"/>
                </a:solidFill>
                <a:latin typeface="Plus Jakarta Sans"/>
              </a:rPr>
              <a:t>What is NDSIR and How It Solves the Problem</a:t>
            </a:r>
          </a:p>
        </p:txBody>
      </p:sp>
      <p:sp>
        <p:nvSpPr>
          <p:cNvPr id="8" name="TextBox 7"/>
          <p:cNvSpPr txBox="1"/>
          <p:nvPr/>
        </p:nvSpPr>
        <p:spPr>
          <a:xfrm>
            <a:off x="923925" y="3495675"/>
            <a:ext cx="6175771" cy="266700"/>
          </a:xfrm>
          <a:prstGeom prst="rect">
            <a:avLst/>
          </a:prstGeom>
          <a:noFill/>
        </p:spPr>
        <p:txBody>
          <a:bodyPr wrap="none" lIns="0" rIns="0" tIns="0" bIns="0" anchor="t">
            <a:spAutoFit/>
          </a:bodyPr>
          <a:lstStyle/>
          <a:p>
            <a:pPr algn="l"/>
            <a:r>
              <a:rPr b="1" sz="1650" i="0" u="none">
                <a:solidFill>
                  <a:srgbClr val="0369A1"/>
                </a:solidFill>
                <a:latin typeface="Plus Jakarta Sans"/>
              </a:rPr>
              <a:t>Sub-60 Second Emergency Stop</a:t>
            </a:r>
          </a:p>
        </p:txBody>
      </p:sp>
      <p:sp>
        <p:nvSpPr>
          <p:cNvPr id="9" name="TextBox 8"/>
          <p:cNvSpPr txBox="1"/>
          <p:nvPr/>
        </p:nvSpPr>
        <p:spPr>
          <a:xfrm>
            <a:off x="923925" y="3876675"/>
            <a:ext cx="4800600" cy="914400"/>
          </a:xfrm>
          <a:prstGeom prst="rect">
            <a:avLst/>
          </a:prstGeom>
          <a:noFill/>
        </p:spPr>
        <p:txBody>
          <a:bodyPr wrap="square" lIns="0" rIns="0" tIns="0" bIns="0" anchor="t">
            <a:spAutoFit/>
          </a:bodyPr>
          <a:lstStyle/>
          <a:p>
            <a:pPr algn="l">
              <a:lnSpc>
                <a:spcPts val="1800"/>
              </a:lnSpc>
            </a:pPr>
            <a:r>
              <a:rPr b="0" sz="1125" i="0" u="none">
                <a:solidFill>
                  <a:srgbClr val="0C4A6E"/>
                </a:solidFill>
                <a:latin typeface="Plus Jakarta Sans"/>
              </a:rPr>
              <a:t>NDSIR acts as a </a:t>
            </a:r>
            <a:r>
              <a:rPr b="1" sz="1125" i="0" u="none">
                <a:solidFill>
                  <a:srgbClr val="0C4A6E"/>
                </a:solidFill>
                <a:latin typeface="Plus Jakarta Sans"/>
              </a:rPr>
              <a:t>national panic button</a:t>
            </a:r>
            <a:r>
              <a:rPr b="0" sz="1125" i="0" u="none">
                <a:solidFill>
                  <a:srgbClr val="0C4A6E"/>
                </a:solidFill>
                <a:latin typeface="Plus Jakarta Sans"/>
              </a:rPr>
              <a:t>. As soon as a citizen reports a scam, NDSIR sends an instant digital command across the network to automatically lock the target bank account or Telebirr wallet before the scammer can cash out.</a:t>
            </a:r>
          </a:p>
        </p:txBody>
      </p:sp>
      <p:sp>
        <p:nvSpPr>
          <p:cNvPr id="10" name="TextBox 9"/>
          <p:cNvSpPr txBox="1"/>
          <p:nvPr/>
        </p:nvSpPr>
        <p:spPr>
          <a:xfrm>
            <a:off x="6562725" y="3609975"/>
            <a:ext cx="5629275" cy="266700"/>
          </a:xfrm>
          <a:prstGeom prst="rect">
            <a:avLst/>
          </a:prstGeom>
          <a:noFill/>
        </p:spPr>
        <p:txBody>
          <a:bodyPr wrap="none" lIns="0" rIns="0" tIns="0" bIns="0" anchor="t">
            <a:spAutoFit/>
          </a:bodyPr>
          <a:lstStyle/>
          <a:p>
            <a:pPr algn="l"/>
            <a:r>
              <a:rPr b="1" sz="1650" i="0" u="none">
                <a:solidFill>
                  <a:srgbClr val="0369A1"/>
                </a:solidFill>
                <a:latin typeface="Plus Jakarta Sans"/>
              </a:rPr>
              <a:t>Unified Inter-Bank Network</a:t>
            </a:r>
          </a:p>
        </p:txBody>
      </p:sp>
      <p:sp>
        <p:nvSpPr>
          <p:cNvPr id="11" name="TextBox 10"/>
          <p:cNvSpPr txBox="1"/>
          <p:nvPr/>
        </p:nvSpPr>
        <p:spPr>
          <a:xfrm>
            <a:off x="6562725" y="3990975"/>
            <a:ext cx="4800600" cy="685800"/>
          </a:xfrm>
          <a:prstGeom prst="rect">
            <a:avLst/>
          </a:prstGeom>
          <a:noFill/>
        </p:spPr>
        <p:txBody>
          <a:bodyPr wrap="square" lIns="0" rIns="0" tIns="0" bIns="0" anchor="t">
            <a:spAutoFit/>
          </a:bodyPr>
          <a:lstStyle/>
          <a:p>
            <a:pPr algn="l">
              <a:lnSpc>
                <a:spcPts val="1800"/>
              </a:lnSpc>
            </a:pPr>
            <a:r>
              <a:rPr b="0" sz="1125" i="0" u="none">
                <a:solidFill>
                  <a:srgbClr val="0C4A6E"/>
                </a:solidFill>
                <a:latin typeface="Plus Jakarta Sans"/>
              </a:rPr>
              <a:t>It bridges Ethio-CSIRT (INSA), National Bank of Ethiopia, Federal Police, CBE, private commercial banks, and Ethio Telecom on </a:t>
            </a:r>
            <a:r>
              <a:rPr b="1" sz="1125" i="0" u="none">
                <a:solidFill>
                  <a:srgbClr val="0C4A6E"/>
                </a:solidFill>
                <a:latin typeface="Plus Jakarta Sans"/>
              </a:rPr>
              <a:t>one shared platform</a:t>
            </a:r>
            <a:r>
              <a:rPr b="0" sz="1125" i="0" u="none">
                <a:solidFill>
                  <a:srgbClr val="0C4A6E"/>
                </a:solidFill>
                <a:latin typeface="Plus Jakarta Sans"/>
              </a:rPr>
              <a:t>, giving full visibility to stop scammers instantly.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862262"/>
            <a:ext cx="3505200" cy="2066925"/>
          </a:xfrm>
          <a:prstGeom prst="roundRect">
            <a:avLst>
              <a:gd name="adj" fmla="val 552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862262"/>
            <a:ext cx="3505200" cy="2066925"/>
          </a:xfrm>
          <a:prstGeom prst="roundRect">
            <a:avLst>
              <a:gd name="adj" fmla="val 552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862262"/>
            <a:ext cx="3505200" cy="2066925"/>
          </a:xfrm>
          <a:prstGeom prst="roundRect">
            <a:avLst>
              <a:gd name="adj" fmla="val 5529"/>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image.png"/>
          <p:cNvPicPr>
            <a:picLocks noChangeAspect="1"/>
          </p:cNvPicPr>
          <p:nvPr/>
        </p:nvPicPr>
        <p:blipFill>
          <a:blip r:embed="rId2"/>
          <a:stretch>
            <a:fillRect/>
          </a:stretch>
        </p:blipFill>
        <p:spPr>
          <a:xfrm>
            <a:off x="847725" y="3138487"/>
            <a:ext cx="333375" cy="266700"/>
          </a:xfrm>
          <a:prstGeom prst="rect">
            <a:avLst/>
          </a:prstGeom>
        </p:spPr>
      </p:pic>
      <p:pic>
        <p:nvPicPr>
          <p:cNvPr id="6" name="Picture 5" descr="image.png"/>
          <p:cNvPicPr>
            <a:picLocks noChangeAspect="1"/>
          </p:cNvPicPr>
          <p:nvPr/>
        </p:nvPicPr>
        <p:blipFill>
          <a:blip r:embed="rId3"/>
          <a:stretch>
            <a:fillRect/>
          </a:stretch>
        </p:blipFill>
        <p:spPr>
          <a:xfrm>
            <a:off x="4581525" y="3138487"/>
            <a:ext cx="304800" cy="266700"/>
          </a:xfrm>
          <a:prstGeom prst="rect">
            <a:avLst/>
          </a:prstGeom>
        </p:spPr>
      </p:pic>
      <p:pic>
        <p:nvPicPr>
          <p:cNvPr id="7" name="Picture 6" descr="image.png"/>
          <p:cNvPicPr>
            <a:picLocks noChangeAspect="1"/>
          </p:cNvPicPr>
          <p:nvPr/>
        </p:nvPicPr>
        <p:blipFill>
          <a:blip r:embed="rId4"/>
          <a:stretch>
            <a:fillRect/>
          </a:stretch>
        </p:blipFill>
        <p:spPr>
          <a:xfrm>
            <a:off x="8315325" y="3138487"/>
            <a:ext cx="304800" cy="266700"/>
          </a:xfrm>
          <a:prstGeom prst="rect">
            <a:avLst/>
          </a:prstGeom>
        </p:spPr>
      </p:pic>
      <p:sp>
        <p:nvSpPr>
          <p:cNvPr id="8" name="TextBox 7"/>
          <p:cNvSpPr txBox="1"/>
          <p:nvPr/>
        </p:nvSpPr>
        <p:spPr>
          <a:xfrm>
            <a:off x="609600" y="533400"/>
            <a:ext cx="11582400" cy="171450"/>
          </a:xfrm>
          <a:prstGeom prst="rect">
            <a:avLst/>
          </a:prstGeom>
          <a:noFill/>
        </p:spPr>
        <p:txBody>
          <a:bodyPr wrap="none" lIns="0" rIns="0" tIns="0" bIns="0" anchor="t">
            <a:spAutoFit/>
          </a:bodyPr>
          <a:lstStyle/>
          <a:p>
            <a:pPr algn="l"/>
            <a:r>
              <a:rPr b="1" sz="1050" i="0" u="none">
                <a:solidFill>
                  <a:srgbClr val="0284C7"/>
                </a:solidFill>
                <a:latin typeface="JetBrains Mono"/>
              </a:rPr>
              <a:t>CORE IDEAS &amp; FEATURES</a:t>
            </a:r>
          </a:p>
        </p:txBody>
      </p:sp>
      <p:sp>
        <p:nvSpPr>
          <p:cNvPr id="9" name="TextBox 8"/>
          <p:cNvSpPr txBox="1"/>
          <p:nvPr/>
        </p:nvSpPr>
        <p:spPr>
          <a:xfrm>
            <a:off x="609600" y="781050"/>
            <a:ext cx="11582400" cy="381000"/>
          </a:xfrm>
          <a:prstGeom prst="rect">
            <a:avLst/>
          </a:prstGeom>
          <a:noFill/>
        </p:spPr>
        <p:txBody>
          <a:bodyPr wrap="none" lIns="0" rIns="0" tIns="0" bIns="0" anchor="t">
            <a:spAutoFit/>
          </a:bodyPr>
          <a:lstStyle/>
          <a:p>
            <a:pPr algn="l"/>
            <a:r>
              <a:rPr b="1" sz="2400" i="0" u="none">
                <a:solidFill>
                  <a:srgbClr val="0F172A"/>
                </a:solidFill>
                <a:latin typeface="Plus Jakarta Sans"/>
              </a:rPr>
              <a:t>How NDSIR Protects System Integrity</a:t>
            </a:r>
          </a:p>
        </p:txBody>
      </p:sp>
      <p:sp>
        <p:nvSpPr>
          <p:cNvPr id="10" name="TextBox 9"/>
          <p:cNvSpPr txBox="1"/>
          <p:nvPr/>
        </p:nvSpPr>
        <p:spPr>
          <a:xfrm>
            <a:off x="847725" y="3557587"/>
            <a:ext cx="3975496" cy="219075"/>
          </a:xfrm>
          <a:prstGeom prst="rect">
            <a:avLst/>
          </a:prstGeom>
          <a:noFill/>
        </p:spPr>
        <p:txBody>
          <a:bodyPr wrap="none" lIns="0" rIns="0" tIns="0" bIns="0" anchor="t">
            <a:spAutoFit/>
          </a:bodyPr>
          <a:lstStyle/>
          <a:p>
            <a:pPr algn="l"/>
            <a:r>
              <a:rPr b="1" sz="1350" i="0" u="none">
                <a:solidFill>
                  <a:srgbClr val="0F172A"/>
                </a:solidFill>
                <a:latin typeface="Plus Jakarta Sans"/>
              </a:rPr>
              <a:t>Two-Person Approval Rule</a:t>
            </a:r>
          </a:p>
        </p:txBody>
      </p:sp>
      <p:sp>
        <p:nvSpPr>
          <p:cNvPr id="11" name="TextBox 10"/>
          <p:cNvSpPr txBox="1"/>
          <p:nvPr/>
        </p:nvSpPr>
        <p:spPr>
          <a:xfrm>
            <a:off x="847725" y="3852862"/>
            <a:ext cx="3124200" cy="800100"/>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To prevent insider fraud or misuse, high-risk actions (like unfreezing money or closing a report) require two authorized bank officers to enter separate PIN codes.</a:t>
            </a:r>
          </a:p>
        </p:txBody>
      </p:sp>
      <p:sp>
        <p:nvSpPr>
          <p:cNvPr id="12" name="TextBox 11"/>
          <p:cNvSpPr txBox="1"/>
          <p:nvPr/>
        </p:nvSpPr>
        <p:spPr>
          <a:xfrm>
            <a:off x="4581525" y="3557587"/>
            <a:ext cx="3975496" cy="219075"/>
          </a:xfrm>
          <a:prstGeom prst="rect">
            <a:avLst/>
          </a:prstGeom>
          <a:noFill/>
        </p:spPr>
        <p:txBody>
          <a:bodyPr wrap="none" lIns="0" rIns="0" tIns="0" bIns="0" anchor="t">
            <a:spAutoFit/>
          </a:bodyPr>
          <a:lstStyle/>
          <a:p>
            <a:pPr algn="l"/>
            <a:r>
              <a:rPr b="1" sz="1350" i="0" u="none">
                <a:solidFill>
                  <a:srgbClr val="0F172A"/>
                </a:solidFill>
                <a:latin typeface="Plus Jakarta Sans"/>
              </a:rPr>
              <a:t>Digital Proof Protection</a:t>
            </a:r>
          </a:p>
        </p:txBody>
      </p:sp>
      <p:sp>
        <p:nvSpPr>
          <p:cNvPr id="13" name="TextBox 12"/>
          <p:cNvSpPr txBox="1"/>
          <p:nvPr/>
        </p:nvSpPr>
        <p:spPr>
          <a:xfrm>
            <a:off x="4581525" y="3852862"/>
            <a:ext cx="3124200" cy="800100"/>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Uploaded payment receipts, screenshots, or SMS records are instantly hashed (SHA-256) so they cannot be edited or erased, creating solid court evidence for police.</a:t>
            </a:r>
          </a:p>
        </p:txBody>
      </p:sp>
      <p:sp>
        <p:nvSpPr>
          <p:cNvPr id="14" name="TextBox 13"/>
          <p:cNvSpPr txBox="1"/>
          <p:nvPr/>
        </p:nvSpPr>
        <p:spPr>
          <a:xfrm>
            <a:off x="8315325" y="3557587"/>
            <a:ext cx="3876675" cy="219075"/>
          </a:xfrm>
          <a:prstGeom prst="rect">
            <a:avLst/>
          </a:prstGeom>
          <a:noFill/>
        </p:spPr>
        <p:txBody>
          <a:bodyPr wrap="none" lIns="0" rIns="0" tIns="0" bIns="0" anchor="t">
            <a:spAutoFit/>
          </a:bodyPr>
          <a:lstStyle/>
          <a:p>
            <a:pPr algn="l"/>
            <a:r>
              <a:rPr b="1" sz="1350" i="0" u="none">
                <a:solidFill>
                  <a:srgbClr val="0F172A"/>
                </a:solidFill>
                <a:latin typeface="Plus Jakarta Sans"/>
              </a:rPr>
              <a:t>Central Regulatory Oversight</a:t>
            </a:r>
          </a:p>
        </p:txBody>
      </p:sp>
      <p:sp>
        <p:nvSpPr>
          <p:cNvPr id="15" name="TextBox 14"/>
          <p:cNvSpPr txBox="1"/>
          <p:nvPr/>
        </p:nvSpPr>
        <p:spPr>
          <a:xfrm>
            <a:off x="8315325" y="3852862"/>
            <a:ext cx="3124200" cy="800100"/>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National Bank of Ethiopia and INSA auditors get real-time dashboards to ensure all banks process citizen scam reports within minutes without delay.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295525"/>
            <a:ext cx="10972800" cy="676275"/>
          </a:xfrm>
          <a:prstGeom prst="roundRect">
            <a:avLst>
              <a:gd name="adj" fmla="val 140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3105150"/>
            <a:ext cx="10972800" cy="676275"/>
          </a:xfrm>
          <a:prstGeom prst="roundRect">
            <a:avLst>
              <a:gd name="adj" fmla="val 140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609600" y="3914775"/>
            <a:ext cx="10972800" cy="676275"/>
          </a:xfrm>
          <a:prstGeom prst="roundRect">
            <a:avLst>
              <a:gd name="adj" fmla="val 140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09600" y="4724400"/>
            <a:ext cx="10972800" cy="676275"/>
          </a:xfrm>
          <a:prstGeom prst="roundRect">
            <a:avLst>
              <a:gd name="adj" fmla="val 1408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7725" y="2481262"/>
            <a:ext cx="304800" cy="304800"/>
          </a:xfrm>
          <a:prstGeom prst="roundRect">
            <a:avLst>
              <a:gd name="adj" fmla="val 50000"/>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09600" y="2295525"/>
            <a:ext cx="47625" cy="676275"/>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47725" y="3290887"/>
            <a:ext cx="304800" cy="304800"/>
          </a:xfrm>
          <a:prstGeom prst="roundRect">
            <a:avLst>
              <a:gd name="adj" fmla="val 50000"/>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09600" y="3105150"/>
            <a:ext cx="47625" cy="67627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7725" y="4100512"/>
            <a:ext cx="304800" cy="304800"/>
          </a:xfrm>
          <a:prstGeom prst="roundRect">
            <a:avLst>
              <a:gd name="adj" fmla="val 50000"/>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09600" y="3914775"/>
            <a:ext cx="47625" cy="676275"/>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47725" y="4910137"/>
            <a:ext cx="304800" cy="304800"/>
          </a:xfrm>
          <a:prstGeom prst="roundRect">
            <a:avLst>
              <a:gd name="adj" fmla="val 50000"/>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09600" y="4724400"/>
            <a:ext cx="47625" cy="676275"/>
          </a:xfrm>
          <a:prstGeom prst="rect">
            <a:avLst/>
          </a:prstGeom>
          <a:solidFill>
            <a:srgbClr val="D9770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09600" y="457200"/>
            <a:ext cx="11582400" cy="171450"/>
          </a:xfrm>
          <a:prstGeom prst="rect">
            <a:avLst/>
          </a:prstGeom>
          <a:noFill/>
        </p:spPr>
        <p:txBody>
          <a:bodyPr wrap="none" lIns="0" rIns="0" tIns="0" bIns="0" anchor="t">
            <a:spAutoFit/>
          </a:bodyPr>
          <a:lstStyle/>
          <a:p>
            <a:pPr algn="l"/>
            <a:r>
              <a:rPr b="1" sz="1050" i="0" u="none">
                <a:solidFill>
                  <a:srgbClr val="0284C7"/>
                </a:solidFill>
                <a:latin typeface="JetBrains Mono"/>
              </a:rPr>
              <a:t>PROCEDURE &amp; PATH</a:t>
            </a:r>
          </a:p>
        </p:txBody>
      </p:sp>
      <p:sp>
        <p:nvSpPr>
          <p:cNvPr id="15" name="TextBox 14"/>
          <p:cNvSpPr txBox="1"/>
          <p:nvPr/>
        </p:nvSpPr>
        <p:spPr>
          <a:xfrm>
            <a:off x="609600" y="704850"/>
            <a:ext cx="11582400" cy="361950"/>
          </a:xfrm>
          <a:prstGeom prst="rect">
            <a:avLst/>
          </a:prstGeom>
          <a:noFill/>
        </p:spPr>
        <p:txBody>
          <a:bodyPr wrap="none" lIns="0" rIns="0" tIns="0" bIns="0" anchor="t">
            <a:spAutoFit/>
          </a:bodyPr>
          <a:lstStyle/>
          <a:p>
            <a:pPr algn="l"/>
            <a:r>
              <a:rPr b="1" sz="2250" i="0" u="none">
                <a:solidFill>
                  <a:srgbClr val="0F172A"/>
                </a:solidFill>
                <a:latin typeface="Plus Jakarta Sans"/>
              </a:rPr>
              <a:t>Step-by-Step Incident Response Path</a:t>
            </a:r>
          </a:p>
        </p:txBody>
      </p:sp>
      <p:sp>
        <p:nvSpPr>
          <p:cNvPr id="16" name="TextBox 15"/>
          <p:cNvSpPr txBox="1"/>
          <p:nvPr/>
        </p:nvSpPr>
        <p:spPr>
          <a:xfrm>
            <a:off x="704850" y="2481262"/>
            <a:ext cx="590550" cy="304800"/>
          </a:xfrm>
          <a:prstGeom prst="rect">
            <a:avLst/>
          </a:prstGeom>
          <a:noFill/>
        </p:spPr>
        <p:txBody>
          <a:bodyPr wrap="square" lIns="0" rIns="0" tIns="0" bIns="0" anchor="ctr">
            <a:spAutoFit/>
          </a:bodyPr>
          <a:lstStyle/>
          <a:p>
            <a:pPr algn="ctr"/>
            <a:r>
              <a:rPr b="1" sz="1200" i="0" u="none">
                <a:solidFill>
                  <a:srgbClr val="FFFFFF"/>
                </a:solidFill>
                <a:latin typeface="Plus Jakarta Sans"/>
              </a:rPr>
              <a:t>1</a:t>
            </a:r>
          </a:p>
        </p:txBody>
      </p:sp>
      <p:sp>
        <p:nvSpPr>
          <p:cNvPr id="17" name="TextBox 16"/>
          <p:cNvSpPr txBox="1"/>
          <p:nvPr/>
        </p:nvSpPr>
        <p:spPr>
          <a:xfrm>
            <a:off x="704850" y="3290887"/>
            <a:ext cx="590550" cy="304800"/>
          </a:xfrm>
          <a:prstGeom prst="rect">
            <a:avLst/>
          </a:prstGeom>
          <a:noFill/>
        </p:spPr>
        <p:txBody>
          <a:bodyPr wrap="square" lIns="0" rIns="0" tIns="0" bIns="0" anchor="ctr">
            <a:spAutoFit/>
          </a:bodyPr>
          <a:lstStyle/>
          <a:p>
            <a:pPr algn="ctr"/>
            <a:r>
              <a:rPr b="1" sz="1200" i="0" u="none">
                <a:solidFill>
                  <a:srgbClr val="FFFFFF"/>
                </a:solidFill>
                <a:latin typeface="Plus Jakarta Sans"/>
              </a:rPr>
              <a:t>2</a:t>
            </a:r>
          </a:p>
        </p:txBody>
      </p:sp>
      <p:sp>
        <p:nvSpPr>
          <p:cNvPr id="18" name="TextBox 17"/>
          <p:cNvSpPr txBox="1"/>
          <p:nvPr/>
        </p:nvSpPr>
        <p:spPr>
          <a:xfrm>
            <a:off x="704850" y="4100512"/>
            <a:ext cx="590550" cy="304800"/>
          </a:xfrm>
          <a:prstGeom prst="rect">
            <a:avLst/>
          </a:prstGeom>
          <a:noFill/>
        </p:spPr>
        <p:txBody>
          <a:bodyPr wrap="square" lIns="0" rIns="0" tIns="0" bIns="0" anchor="ctr">
            <a:spAutoFit/>
          </a:bodyPr>
          <a:lstStyle/>
          <a:p>
            <a:pPr algn="ctr"/>
            <a:r>
              <a:rPr b="1" sz="1200" i="0" u="none">
                <a:solidFill>
                  <a:srgbClr val="FFFFFF"/>
                </a:solidFill>
                <a:latin typeface="Plus Jakarta Sans"/>
              </a:rPr>
              <a:t>3</a:t>
            </a:r>
          </a:p>
        </p:txBody>
      </p:sp>
      <p:sp>
        <p:nvSpPr>
          <p:cNvPr id="19" name="TextBox 18"/>
          <p:cNvSpPr txBox="1"/>
          <p:nvPr/>
        </p:nvSpPr>
        <p:spPr>
          <a:xfrm>
            <a:off x="704850" y="4910137"/>
            <a:ext cx="590550" cy="304800"/>
          </a:xfrm>
          <a:prstGeom prst="rect">
            <a:avLst/>
          </a:prstGeom>
          <a:noFill/>
        </p:spPr>
        <p:txBody>
          <a:bodyPr wrap="square" lIns="0" rIns="0" tIns="0" bIns="0" anchor="ctr">
            <a:spAutoFit/>
          </a:bodyPr>
          <a:lstStyle/>
          <a:p>
            <a:pPr algn="ctr"/>
            <a:r>
              <a:rPr b="1" sz="1200" i="0" u="none">
                <a:solidFill>
                  <a:srgbClr val="FFFFFF"/>
                </a:solidFill>
                <a:latin typeface="Plus Jakarta Sans"/>
              </a:rPr>
              <a:t>4</a:t>
            </a:r>
          </a:p>
        </p:txBody>
      </p:sp>
      <p:sp>
        <p:nvSpPr>
          <p:cNvPr id="20" name="TextBox 19"/>
          <p:cNvSpPr txBox="1"/>
          <p:nvPr/>
        </p:nvSpPr>
        <p:spPr>
          <a:xfrm>
            <a:off x="1304925" y="2447925"/>
            <a:ext cx="6775846" cy="200025"/>
          </a:xfrm>
          <a:prstGeom prst="rect">
            <a:avLst/>
          </a:prstGeom>
          <a:noFill/>
        </p:spPr>
        <p:txBody>
          <a:bodyPr wrap="none" lIns="0" rIns="0" tIns="0" bIns="0" anchor="t">
            <a:spAutoFit/>
          </a:bodyPr>
          <a:lstStyle/>
          <a:p>
            <a:pPr algn="l"/>
            <a:r>
              <a:rPr b="1" sz="1200" i="0" u="none">
                <a:solidFill>
                  <a:srgbClr val="0F172A"/>
                </a:solidFill>
                <a:latin typeface="Plus Jakarta Sans"/>
              </a:rPr>
              <a:t>Citizen Reports Scam</a:t>
            </a:r>
          </a:p>
        </p:txBody>
      </p:sp>
      <p:sp>
        <p:nvSpPr>
          <p:cNvPr id="21" name="TextBox 20"/>
          <p:cNvSpPr txBox="1"/>
          <p:nvPr/>
        </p:nvSpPr>
        <p:spPr>
          <a:xfrm>
            <a:off x="1304925" y="2667000"/>
            <a:ext cx="6453187" cy="152400"/>
          </a:xfrm>
          <a:prstGeom prst="rect">
            <a:avLst/>
          </a:prstGeom>
          <a:noFill/>
        </p:spPr>
        <p:txBody>
          <a:bodyPr wrap="none" lIns="0" rIns="0" tIns="0" bIns="0" anchor="t">
            <a:spAutoFit/>
          </a:bodyPr>
          <a:lstStyle/>
          <a:p>
            <a:pPr algn="l"/>
            <a:r>
              <a:rPr b="0" sz="975" i="0" u="none">
                <a:solidFill>
                  <a:srgbClr val="64748B"/>
                </a:solidFill>
                <a:latin typeface="Plus Jakarta Sans"/>
              </a:rPr>
              <a:t>Victim submits transaction details and receipt on NDSIR portal or USSD phone shortcode.</a:t>
            </a:r>
          </a:p>
        </p:txBody>
      </p:sp>
      <p:sp>
        <p:nvSpPr>
          <p:cNvPr id="22" name="TextBox 21"/>
          <p:cNvSpPr txBox="1"/>
          <p:nvPr/>
        </p:nvSpPr>
        <p:spPr>
          <a:xfrm>
            <a:off x="1304925" y="3257550"/>
            <a:ext cx="8126015" cy="200025"/>
          </a:xfrm>
          <a:prstGeom prst="rect">
            <a:avLst/>
          </a:prstGeom>
          <a:noFill/>
        </p:spPr>
        <p:txBody>
          <a:bodyPr wrap="none" lIns="0" rIns="0" tIns="0" bIns="0" anchor="t">
            <a:spAutoFit/>
          </a:bodyPr>
          <a:lstStyle/>
          <a:p>
            <a:pPr algn="l"/>
            <a:r>
              <a:rPr b="1" sz="1200" i="0" u="none">
                <a:solidFill>
                  <a:srgbClr val="0F172A"/>
                </a:solidFill>
                <a:latin typeface="Plus Jakarta Sans"/>
              </a:rPr>
              <a:t>Ethio-CSIRT Direct Dispatch</a:t>
            </a:r>
          </a:p>
        </p:txBody>
      </p:sp>
      <p:sp>
        <p:nvSpPr>
          <p:cNvPr id="23" name="TextBox 22"/>
          <p:cNvSpPr txBox="1"/>
          <p:nvPr/>
        </p:nvSpPr>
        <p:spPr>
          <a:xfrm>
            <a:off x="1304925" y="3476625"/>
            <a:ext cx="7739062" cy="152400"/>
          </a:xfrm>
          <a:prstGeom prst="rect">
            <a:avLst/>
          </a:prstGeom>
          <a:noFill/>
        </p:spPr>
        <p:txBody>
          <a:bodyPr wrap="none" lIns="0" rIns="0" tIns="0" bIns="0" anchor="t">
            <a:spAutoFit/>
          </a:bodyPr>
          <a:lstStyle/>
          <a:p>
            <a:pPr algn="l"/>
            <a:r>
              <a:rPr b="0" sz="975" i="0" u="none">
                <a:solidFill>
                  <a:srgbClr val="64748B"/>
                </a:solidFill>
                <a:latin typeface="Plus Jakarta Sans"/>
              </a:rPr>
              <a:t>System checks transaction data and sends an emergency freeze command to the scammer's bank/Telebirr.</a:t>
            </a:r>
          </a:p>
        </p:txBody>
      </p:sp>
      <p:sp>
        <p:nvSpPr>
          <p:cNvPr id="24" name="TextBox 23"/>
          <p:cNvSpPr txBox="1"/>
          <p:nvPr/>
        </p:nvSpPr>
        <p:spPr>
          <a:xfrm>
            <a:off x="1304925" y="4067175"/>
            <a:ext cx="7700962" cy="200025"/>
          </a:xfrm>
          <a:prstGeom prst="rect">
            <a:avLst/>
          </a:prstGeom>
          <a:noFill/>
        </p:spPr>
        <p:txBody>
          <a:bodyPr wrap="none" lIns="0" rIns="0" tIns="0" bIns="0" anchor="t">
            <a:spAutoFit/>
          </a:bodyPr>
          <a:lstStyle/>
          <a:p>
            <a:pPr algn="l"/>
            <a:r>
              <a:rPr b="1" sz="1200" i="0" u="none">
                <a:solidFill>
                  <a:srgbClr val="0F172A"/>
                </a:solidFill>
                <a:latin typeface="Plus Jakarta Sans"/>
              </a:rPr>
              <a:t>Bank Account Locked in &lt; 60 Seconds</a:t>
            </a:r>
          </a:p>
        </p:txBody>
      </p:sp>
      <p:sp>
        <p:nvSpPr>
          <p:cNvPr id="25" name="TextBox 24"/>
          <p:cNvSpPr txBox="1"/>
          <p:nvPr/>
        </p:nvSpPr>
        <p:spPr>
          <a:xfrm>
            <a:off x="1304925" y="4286250"/>
            <a:ext cx="7334250" cy="152400"/>
          </a:xfrm>
          <a:prstGeom prst="rect">
            <a:avLst/>
          </a:prstGeom>
          <a:noFill/>
        </p:spPr>
        <p:txBody>
          <a:bodyPr wrap="none" lIns="0" rIns="0" tIns="0" bIns="0" anchor="t">
            <a:spAutoFit/>
          </a:bodyPr>
          <a:lstStyle/>
          <a:p>
            <a:pPr algn="l"/>
            <a:r>
              <a:rPr b="0" sz="975" i="0" u="none">
                <a:solidFill>
                  <a:srgbClr val="64748B"/>
                </a:solidFill>
                <a:latin typeface="Plus Jakarta Sans"/>
              </a:rPr>
              <a:t>Receiving bank validates the alert using Two-Person PIN and freezes the stolen funds before cash-out.</a:t>
            </a:r>
          </a:p>
        </p:txBody>
      </p:sp>
      <p:sp>
        <p:nvSpPr>
          <p:cNvPr id="26" name="TextBox 25"/>
          <p:cNvSpPr txBox="1"/>
          <p:nvPr/>
        </p:nvSpPr>
        <p:spPr>
          <a:xfrm>
            <a:off x="1304925" y="4876800"/>
            <a:ext cx="8001000" cy="200025"/>
          </a:xfrm>
          <a:prstGeom prst="rect">
            <a:avLst/>
          </a:prstGeom>
          <a:noFill/>
        </p:spPr>
        <p:txBody>
          <a:bodyPr wrap="none" lIns="0" rIns="0" tIns="0" bIns="0" anchor="t">
            <a:spAutoFit/>
          </a:bodyPr>
          <a:lstStyle/>
          <a:p>
            <a:pPr algn="l"/>
            <a:r>
              <a:rPr b="1" sz="1200" i="0" u="none">
                <a:solidFill>
                  <a:srgbClr val="0F172A"/>
                </a:solidFill>
                <a:latin typeface="Plus Jakarta Sans"/>
              </a:rPr>
              <a:t>Police Investigation &amp; Fund Return</a:t>
            </a:r>
          </a:p>
        </p:txBody>
      </p:sp>
      <p:sp>
        <p:nvSpPr>
          <p:cNvPr id="27" name="TextBox 26"/>
          <p:cNvSpPr txBox="1"/>
          <p:nvPr/>
        </p:nvSpPr>
        <p:spPr>
          <a:xfrm>
            <a:off x="1304925" y="5095875"/>
            <a:ext cx="7620000" cy="152400"/>
          </a:xfrm>
          <a:prstGeom prst="rect">
            <a:avLst/>
          </a:prstGeom>
          <a:noFill/>
        </p:spPr>
        <p:txBody>
          <a:bodyPr wrap="none" lIns="0" rIns="0" tIns="0" bIns="0" anchor="t">
            <a:spAutoFit/>
          </a:bodyPr>
          <a:lstStyle/>
          <a:p>
            <a:pPr algn="l"/>
            <a:r>
              <a:rPr b="0" sz="975" i="0" u="none">
                <a:solidFill>
                  <a:srgbClr val="64748B"/>
                </a:solidFill>
                <a:latin typeface="Plus Jakarta Sans"/>
              </a:rPr>
              <a:t>Federal Police review secured evidence, verify the fraud, and facilitate legal money recovery to the victim.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533400" y="3816548"/>
            <a:ext cx="5562600" cy="647700"/>
          </a:xfrm>
          <a:prstGeom prst="rect">
            <a:avLst/>
          </a:prstGeom>
          <a:solidFill>
            <a:srgbClr val="F0F9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33400" y="3816548"/>
            <a:ext cx="38100" cy="6477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image.png"/>
          <p:cNvPicPr>
            <a:picLocks noChangeAspect="1"/>
          </p:cNvPicPr>
          <p:nvPr/>
        </p:nvPicPr>
        <p:blipFill>
          <a:blip r:embed="rId2"/>
          <a:stretch>
            <a:fillRect/>
          </a:stretch>
        </p:blipFill>
        <p:spPr>
          <a:xfrm>
            <a:off x="6629400" y="0"/>
            <a:ext cx="5562600" cy="6858000"/>
          </a:xfrm>
          <a:prstGeom prst="rect">
            <a:avLst/>
          </a:prstGeom>
        </p:spPr>
      </p:pic>
      <p:sp>
        <p:nvSpPr>
          <p:cNvPr id="5" name="TextBox 4"/>
          <p:cNvSpPr txBox="1"/>
          <p:nvPr/>
        </p:nvSpPr>
        <p:spPr>
          <a:xfrm>
            <a:off x="533400" y="2393602"/>
            <a:ext cx="6953250" cy="171450"/>
          </a:xfrm>
          <a:prstGeom prst="rect">
            <a:avLst/>
          </a:prstGeom>
          <a:noFill/>
        </p:spPr>
        <p:txBody>
          <a:bodyPr wrap="none" lIns="0" rIns="0" tIns="0" bIns="0" anchor="t">
            <a:spAutoFit/>
          </a:bodyPr>
          <a:lstStyle/>
          <a:p>
            <a:pPr algn="l"/>
            <a:r>
              <a:rPr b="1" sz="1050" i="0" u="none">
                <a:solidFill>
                  <a:srgbClr val="0284C7"/>
                </a:solidFill>
                <a:latin typeface="JetBrains Mono"/>
              </a:rPr>
              <a:t>CENTRAL NETWORK HUB</a:t>
            </a:r>
          </a:p>
        </p:txBody>
      </p:sp>
      <p:sp>
        <p:nvSpPr>
          <p:cNvPr id="6" name="TextBox 5"/>
          <p:cNvSpPr txBox="1"/>
          <p:nvPr/>
        </p:nvSpPr>
        <p:spPr>
          <a:xfrm>
            <a:off x="533400" y="2641252"/>
            <a:ext cx="7300912" cy="365670"/>
          </a:xfrm>
          <a:prstGeom prst="rect">
            <a:avLst/>
          </a:prstGeom>
          <a:noFill/>
        </p:spPr>
        <p:txBody>
          <a:bodyPr wrap="none" lIns="0" rIns="0" tIns="0" bIns="0" anchor="t">
            <a:spAutoFit/>
          </a:bodyPr>
          <a:lstStyle/>
          <a:p>
            <a:pPr algn="l">
              <a:lnSpc>
                <a:spcPts val="2879"/>
              </a:lnSpc>
            </a:pPr>
            <a:r>
              <a:rPr b="1" sz="2400" i="0" u="none">
                <a:solidFill>
                  <a:srgbClr val="0F172A"/>
                </a:solidFill>
                <a:latin typeface="Plus Jakarta Sans"/>
              </a:rPr>
              <a:t>Real-Time Command &amp; Control</a:t>
            </a:r>
          </a:p>
        </p:txBody>
      </p:sp>
      <p:sp>
        <p:nvSpPr>
          <p:cNvPr id="7" name="TextBox 6"/>
          <p:cNvSpPr txBox="1"/>
          <p:nvPr/>
        </p:nvSpPr>
        <p:spPr>
          <a:xfrm>
            <a:off x="533400" y="3159323"/>
            <a:ext cx="5657850" cy="428625"/>
          </a:xfrm>
          <a:prstGeom prst="rect">
            <a:avLst/>
          </a:prstGeom>
          <a:noFill/>
        </p:spPr>
        <p:txBody>
          <a:bodyPr wrap="square" lIns="0" rIns="0" tIns="0" bIns="0" anchor="t">
            <a:spAutoFit/>
          </a:bodyPr>
          <a:lstStyle/>
          <a:p>
            <a:pPr algn="l">
              <a:lnSpc>
                <a:spcPts val="1687"/>
              </a:lnSpc>
            </a:pPr>
            <a:r>
              <a:rPr b="0" sz="1125" i="0" u="none">
                <a:solidFill>
                  <a:srgbClr val="475569"/>
                </a:solidFill>
                <a:latin typeface="Plus Jakarta Sans"/>
              </a:rPr>
              <a:t>NDSIR replaces old official letter requests and manual phone calls with a single live cybersecurity operational hub managed by INSA / Ethio-CSIRT.</a:t>
            </a:r>
          </a:p>
        </p:txBody>
      </p:sp>
      <p:sp>
        <p:nvSpPr>
          <p:cNvPr id="8" name="TextBox 7"/>
          <p:cNvSpPr txBox="1"/>
          <p:nvPr/>
        </p:nvSpPr>
        <p:spPr>
          <a:xfrm>
            <a:off x="723900" y="3968948"/>
            <a:ext cx="5314950" cy="342900"/>
          </a:xfrm>
          <a:prstGeom prst="rect">
            <a:avLst/>
          </a:prstGeom>
          <a:noFill/>
        </p:spPr>
        <p:txBody>
          <a:bodyPr wrap="square" lIns="0" rIns="0" tIns="0" bIns="0" anchor="t">
            <a:spAutoFit/>
          </a:bodyPr>
          <a:lstStyle/>
          <a:p>
            <a:pPr algn="l"/>
            <a:r>
              <a:rPr b="1" sz="1050" i="0" u="none">
                <a:solidFill>
                  <a:srgbClr val="0369A1"/>
                </a:solidFill>
                <a:latin typeface="Plus Jakarta Sans"/>
              </a:rPr>
              <a:t>Direct communication link across all 30+ licensed commercial banks and mobile payment providers in Ethiopia.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2995612"/>
            <a:ext cx="3505200" cy="1800225"/>
          </a:xfrm>
          <a:prstGeom prst="roundRect">
            <a:avLst>
              <a:gd name="adj" fmla="val 634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2995612"/>
            <a:ext cx="3505200" cy="1800225"/>
          </a:xfrm>
          <a:prstGeom prst="roundRect">
            <a:avLst>
              <a:gd name="adj" fmla="val 6349"/>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2895600"/>
            <a:ext cx="3505200" cy="2000250"/>
          </a:xfrm>
          <a:prstGeom prst="roundRect">
            <a:avLst>
              <a:gd name="adj" fmla="val 5714"/>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09600" y="2995612"/>
            <a:ext cx="3505200" cy="38100"/>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343400" y="2995612"/>
            <a:ext cx="3505200" cy="38100"/>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8077200" y="2895600"/>
            <a:ext cx="3505200" cy="381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image.png"/>
          <p:cNvPicPr>
            <a:picLocks noChangeAspect="1"/>
          </p:cNvPicPr>
          <p:nvPr/>
        </p:nvPicPr>
        <p:blipFill>
          <a:blip r:embed="rId2"/>
          <a:stretch>
            <a:fillRect/>
          </a:stretch>
        </p:blipFill>
        <p:spPr>
          <a:xfrm>
            <a:off x="838200" y="3338512"/>
            <a:ext cx="342900" cy="304800"/>
          </a:xfrm>
          <a:prstGeom prst="rect">
            <a:avLst/>
          </a:prstGeom>
        </p:spPr>
      </p:pic>
      <p:pic>
        <p:nvPicPr>
          <p:cNvPr id="9" name="Picture 8" descr="image.png"/>
          <p:cNvPicPr>
            <a:picLocks noChangeAspect="1"/>
          </p:cNvPicPr>
          <p:nvPr/>
        </p:nvPicPr>
        <p:blipFill>
          <a:blip r:embed="rId3"/>
          <a:stretch>
            <a:fillRect/>
          </a:stretch>
        </p:blipFill>
        <p:spPr>
          <a:xfrm>
            <a:off x="4572000" y="3338512"/>
            <a:ext cx="228600" cy="304800"/>
          </a:xfrm>
          <a:prstGeom prst="rect">
            <a:avLst/>
          </a:prstGeom>
        </p:spPr>
      </p:pic>
      <p:pic>
        <p:nvPicPr>
          <p:cNvPr id="10" name="Picture 9" descr="image.png"/>
          <p:cNvPicPr>
            <a:picLocks noChangeAspect="1"/>
          </p:cNvPicPr>
          <p:nvPr/>
        </p:nvPicPr>
        <p:blipFill>
          <a:blip r:embed="rId4"/>
          <a:stretch>
            <a:fillRect/>
          </a:stretch>
        </p:blipFill>
        <p:spPr>
          <a:xfrm>
            <a:off x="8305800" y="3238500"/>
            <a:ext cx="304800" cy="304800"/>
          </a:xfrm>
          <a:prstGeom prst="rect">
            <a:avLst/>
          </a:prstGeom>
        </p:spPr>
      </p:pic>
      <p:sp>
        <p:nvSpPr>
          <p:cNvPr id="11" name="TextBox 10"/>
          <p:cNvSpPr txBox="1"/>
          <p:nvPr/>
        </p:nvSpPr>
        <p:spPr>
          <a:xfrm>
            <a:off x="609600" y="533400"/>
            <a:ext cx="11582400" cy="171450"/>
          </a:xfrm>
          <a:prstGeom prst="rect">
            <a:avLst/>
          </a:prstGeom>
          <a:noFill/>
        </p:spPr>
        <p:txBody>
          <a:bodyPr wrap="none" lIns="0" rIns="0" tIns="0" bIns="0" anchor="t">
            <a:spAutoFit/>
          </a:bodyPr>
          <a:lstStyle/>
          <a:p>
            <a:pPr algn="l"/>
            <a:r>
              <a:rPr b="1" sz="1050" i="0" u="none">
                <a:solidFill>
                  <a:srgbClr val="0284C7"/>
                </a:solidFill>
                <a:latin typeface="JetBrains Mono"/>
              </a:rPr>
              <a:t>NATIONAL NEED &amp; BENEFIT</a:t>
            </a:r>
          </a:p>
        </p:txBody>
      </p:sp>
      <p:sp>
        <p:nvSpPr>
          <p:cNvPr id="12" name="TextBox 11"/>
          <p:cNvSpPr txBox="1"/>
          <p:nvPr/>
        </p:nvSpPr>
        <p:spPr>
          <a:xfrm>
            <a:off x="609600" y="781050"/>
            <a:ext cx="11582400" cy="381000"/>
          </a:xfrm>
          <a:prstGeom prst="rect">
            <a:avLst/>
          </a:prstGeom>
          <a:noFill/>
        </p:spPr>
        <p:txBody>
          <a:bodyPr wrap="none" lIns="0" rIns="0" tIns="0" bIns="0" anchor="t">
            <a:spAutoFit/>
          </a:bodyPr>
          <a:lstStyle/>
          <a:p>
            <a:pPr algn="l"/>
            <a:r>
              <a:rPr b="1" sz="2400" i="0" u="none">
                <a:solidFill>
                  <a:srgbClr val="0F172A"/>
                </a:solidFill>
                <a:latin typeface="Plus Jakarta Sans"/>
              </a:rPr>
              <a:t>Why Ethiopia Needs NDSIR Now</a:t>
            </a:r>
          </a:p>
        </p:txBody>
      </p:sp>
      <p:sp>
        <p:nvSpPr>
          <p:cNvPr id="13" name="TextBox 12"/>
          <p:cNvSpPr txBox="1"/>
          <p:nvPr/>
        </p:nvSpPr>
        <p:spPr>
          <a:xfrm>
            <a:off x="838200" y="3795712"/>
            <a:ext cx="4000500" cy="219075"/>
          </a:xfrm>
          <a:prstGeom prst="rect">
            <a:avLst/>
          </a:prstGeom>
          <a:noFill/>
        </p:spPr>
        <p:txBody>
          <a:bodyPr wrap="none" lIns="0" rIns="0" tIns="0" bIns="0" anchor="t">
            <a:spAutoFit/>
          </a:bodyPr>
          <a:lstStyle/>
          <a:p>
            <a:pPr algn="l"/>
            <a:r>
              <a:rPr b="1" sz="1350" i="0" u="none">
                <a:solidFill>
                  <a:srgbClr val="0F172A"/>
                </a:solidFill>
                <a:latin typeface="Plus Jakarta Sans"/>
              </a:rPr>
              <a:t>Protects Citizens' Money</a:t>
            </a:r>
          </a:p>
        </p:txBody>
      </p:sp>
      <p:sp>
        <p:nvSpPr>
          <p:cNvPr id="14" name="TextBox 13"/>
          <p:cNvSpPr txBox="1"/>
          <p:nvPr/>
        </p:nvSpPr>
        <p:spPr>
          <a:xfrm>
            <a:off x="838200" y="4090987"/>
            <a:ext cx="3143250" cy="400050"/>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Gives everyday Ethiopian citizens a safe way to recover lost life savings from digital scams.</a:t>
            </a:r>
          </a:p>
        </p:txBody>
      </p:sp>
      <p:sp>
        <p:nvSpPr>
          <p:cNvPr id="15" name="TextBox 14"/>
          <p:cNvSpPr txBox="1"/>
          <p:nvPr/>
        </p:nvSpPr>
        <p:spPr>
          <a:xfrm>
            <a:off x="4572000" y="3795712"/>
            <a:ext cx="4000500" cy="219075"/>
          </a:xfrm>
          <a:prstGeom prst="rect">
            <a:avLst/>
          </a:prstGeom>
          <a:noFill/>
        </p:spPr>
        <p:txBody>
          <a:bodyPr wrap="none" lIns="0" rIns="0" tIns="0" bIns="0" anchor="t">
            <a:spAutoFit/>
          </a:bodyPr>
          <a:lstStyle/>
          <a:p>
            <a:pPr algn="l"/>
            <a:r>
              <a:rPr b="1" sz="1350" i="0" u="none">
                <a:solidFill>
                  <a:srgbClr val="0F172A"/>
                </a:solidFill>
                <a:latin typeface="Plus Jakarta Sans"/>
              </a:rPr>
              <a:t>Builds Trust in Digital Ethiopia</a:t>
            </a:r>
          </a:p>
        </p:txBody>
      </p:sp>
      <p:sp>
        <p:nvSpPr>
          <p:cNvPr id="16" name="TextBox 15"/>
          <p:cNvSpPr txBox="1"/>
          <p:nvPr/>
        </p:nvSpPr>
        <p:spPr>
          <a:xfrm>
            <a:off x="4572000" y="4090987"/>
            <a:ext cx="3143250" cy="400050"/>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Restores public confidence in mobile banking, Telebirr, and cashless digital economy initiatives.</a:t>
            </a:r>
          </a:p>
        </p:txBody>
      </p:sp>
      <p:sp>
        <p:nvSpPr>
          <p:cNvPr id="17" name="TextBox 16"/>
          <p:cNvSpPr txBox="1"/>
          <p:nvPr/>
        </p:nvSpPr>
        <p:spPr>
          <a:xfrm>
            <a:off x="8305800" y="3695700"/>
            <a:ext cx="3886200" cy="219075"/>
          </a:xfrm>
          <a:prstGeom prst="rect">
            <a:avLst/>
          </a:prstGeom>
          <a:noFill/>
        </p:spPr>
        <p:txBody>
          <a:bodyPr wrap="none" lIns="0" rIns="0" tIns="0" bIns="0" anchor="t">
            <a:spAutoFit/>
          </a:bodyPr>
          <a:lstStyle/>
          <a:p>
            <a:pPr algn="l"/>
            <a:r>
              <a:rPr b="1" sz="1350" i="0" u="none">
                <a:solidFill>
                  <a:srgbClr val="0F172A"/>
                </a:solidFill>
                <a:latin typeface="Plus Jakarta Sans"/>
              </a:rPr>
              <a:t>Stops Illicit Capital Leakage</a:t>
            </a:r>
          </a:p>
        </p:txBody>
      </p:sp>
      <p:sp>
        <p:nvSpPr>
          <p:cNvPr id="18" name="TextBox 17"/>
          <p:cNvSpPr txBox="1"/>
          <p:nvPr/>
        </p:nvSpPr>
        <p:spPr>
          <a:xfrm>
            <a:off x="8305800" y="3990975"/>
            <a:ext cx="3143250" cy="600075"/>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Prevents stolen funds from being moved into illegal foreign exchange (black market FX) or cross-border hawala channels.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ounded Rectangle 1"/>
          <p:cNvSpPr/>
          <p:nvPr/>
        </p:nvSpPr>
        <p:spPr>
          <a:xfrm>
            <a:off x="609600" y="3005137"/>
            <a:ext cx="3505200" cy="1781175"/>
          </a:xfrm>
          <a:prstGeom prst="roundRect">
            <a:avLst>
              <a:gd name="adj" fmla="val 64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4343400" y="3005137"/>
            <a:ext cx="3505200" cy="1781175"/>
          </a:xfrm>
          <a:prstGeom prst="roundRect">
            <a:avLst>
              <a:gd name="adj" fmla="val 64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8077200" y="3005137"/>
            <a:ext cx="3505200" cy="1781175"/>
          </a:xfrm>
          <a:prstGeom prst="roundRect">
            <a:avLst>
              <a:gd name="adj" fmla="val 6417"/>
            </a:avLst>
          </a:prstGeom>
          <a:solidFill>
            <a:srgbClr val="F8FAFC"/>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533400"/>
            <a:ext cx="11582400" cy="171450"/>
          </a:xfrm>
          <a:prstGeom prst="rect">
            <a:avLst/>
          </a:prstGeom>
          <a:noFill/>
        </p:spPr>
        <p:txBody>
          <a:bodyPr wrap="none" lIns="0" rIns="0" tIns="0" bIns="0" anchor="t">
            <a:spAutoFit/>
          </a:bodyPr>
          <a:lstStyle/>
          <a:p>
            <a:pPr algn="l"/>
            <a:r>
              <a:rPr b="1" sz="1050" i="0" u="none">
                <a:solidFill>
                  <a:srgbClr val="0284C7"/>
                </a:solidFill>
                <a:latin typeface="JetBrains Mono"/>
              </a:rPr>
              <a:t>SYSTEM COMPONENTS</a:t>
            </a:r>
          </a:p>
        </p:txBody>
      </p:sp>
      <p:sp>
        <p:nvSpPr>
          <p:cNvPr id="6" name="TextBox 5"/>
          <p:cNvSpPr txBox="1"/>
          <p:nvPr/>
        </p:nvSpPr>
        <p:spPr>
          <a:xfrm>
            <a:off x="609600" y="781050"/>
            <a:ext cx="11582400" cy="381000"/>
          </a:xfrm>
          <a:prstGeom prst="rect">
            <a:avLst/>
          </a:prstGeom>
          <a:noFill/>
        </p:spPr>
        <p:txBody>
          <a:bodyPr wrap="none" lIns="0" rIns="0" tIns="0" bIns="0" anchor="t">
            <a:spAutoFit/>
          </a:bodyPr>
          <a:lstStyle/>
          <a:p>
            <a:pPr algn="l"/>
            <a:r>
              <a:rPr b="1" sz="2400" i="0" u="none">
                <a:solidFill>
                  <a:srgbClr val="0F172A"/>
                </a:solidFill>
                <a:latin typeface="Plus Jakarta Sans"/>
              </a:rPr>
              <a:t>Simple &amp; Reliable Tech Stack</a:t>
            </a:r>
          </a:p>
        </p:txBody>
      </p:sp>
      <p:sp>
        <p:nvSpPr>
          <p:cNvPr id="7" name="TextBox 6"/>
          <p:cNvSpPr txBox="1"/>
          <p:nvPr/>
        </p:nvSpPr>
        <p:spPr>
          <a:xfrm>
            <a:off x="876300" y="3271837"/>
            <a:ext cx="3067050" cy="1247775"/>
          </a:xfrm>
          <a:prstGeom prst="rect">
            <a:avLst/>
          </a:prstGeom>
          <a:noFill/>
        </p:spPr>
        <p:txBody>
          <a:bodyPr wrap="square" lIns="0" rIns="0" tIns="0" bIns="0" anchor="t">
            <a:spAutoFit/>
          </a:bodyPr>
          <a:lstStyle/>
          <a:p>
            <a:pPr algn="l"/>
            <a:r>
              <a:rPr b="1" sz="975" i="0" u="none">
                <a:solidFill>
                  <a:srgbClr val="0284C7"/>
                </a:solidFill>
                <a:latin typeface="Plus Jakarta Sans"/>
              </a:rPr>
              <a:t>BACKEND ENGINE</a:t>
            </a:r>
          </a:p>
        </p:txBody>
      </p:sp>
      <p:sp>
        <p:nvSpPr>
          <p:cNvPr id="8" name="TextBox 7"/>
          <p:cNvSpPr txBox="1"/>
          <p:nvPr/>
        </p:nvSpPr>
        <p:spPr>
          <a:xfrm>
            <a:off x="4610100" y="3271837"/>
            <a:ext cx="3067050" cy="1247775"/>
          </a:xfrm>
          <a:prstGeom prst="rect">
            <a:avLst/>
          </a:prstGeom>
          <a:noFill/>
        </p:spPr>
        <p:txBody>
          <a:bodyPr wrap="square" lIns="0" rIns="0" tIns="0" bIns="0" anchor="t">
            <a:spAutoFit/>
          </a:bodyPr>
          <a:lstStyle/>
          <a:p>
            <a:pPr algn="l"/>
            <a:r>
              <a:rPr b="1" sz="975" i="0" u="none">
                <a:solidFill>
                  <a:srgbClr val="0284C7"/>
                </a:solidFill>
                <a:latin typeface="Plus Jakarta Sans"/>
              </a:rPr>
              <a:t>FRONTEND DASHBOARD</a:t>
            </a:r>
          </a:p>
        </p:txBody>
      </p:sp>
      <p:sp>
        <p:nvSpPr>
          <p:cNvPr id="9" name="TextBox 8"/>
          <p:cNvSpPr txBox="1"/>
          <p:nvPr/>
        </p:nvSpPr>
        <p:spPr>
          <a:xfrm>
            <a:off x="8343900" y="3271837"/>
            <a:ext cx="3067050" cy="1247775"/>
          </a:xfrm>
          <a:prstGeom prst="rect">
            <a:avLst/>
          </a:prstGeom>
          <a:noFill/>
        </p:spPr>
        <p:txBody>
          <a:bodyPr wrap="square" lIns="0" rIns="0" tIns="0" bIns="0" anchor="t">
            <a:spAutoFit/>
          </a:bodyPr>
          <a:lstStyle/>
          <a:p>
            <a:pPr algn="l"/>
            <a:r>
              <a:rPr b="1" sz="975" i="0" u="none">
                <a:solidFill>
                  <a:srgbClr val="0284C7"/>
                </a:solidFill>
                <a:latin typeface="Plus Jakarta Sans"/>
              </a:rPr>
              <a:t>TELECOM CONNECTOR</a:t>
            </a:r>
          </a:p>
        </p:txBody>
      </p:sp>
      <p:sp>
        <p:nvSpPr>
          <p:cNvPr id="10" name="TextBox 9"/>
          <p:cNvSpPr txBox="1"/>
          <p:nvPr/>
        </p:nvSpPr>
        <p:spPr>
          <a:xfrm>
            <a:off x="885825" y="3595687"/>
            <a:ext cx="3875484" cy="238125"/>
          </a:xfrm>
          <a:prstGeom prst="rect">
            <a:avLst/>
          </a:prstGeom>
          <a:noFill/>
        </p:spPr>
        <p:txBody>
          <a:bodyPr wrap="none" lIns="0" rIns="0" tIns="0" bIns="0" anchor="t">
            <a:spAutoFit/>
          </a:bodyPr>
          <a:lstStyle/>
          <a:p>
            <a:pPr algn="l"/>
            <a:r>
              <a:rPr b="1" sz="1500" i="0" u="none">
                <a:solidFill>
                  <a:srgbClr val="0F172A"/>
                </a:solidFill>
                <a:latin typeface="Plus Jakarta Sans"/>
              </a:rPr>
              <a:t>Django REST Framework</a:t>
            </a:r>
          </a:p>
        </p:txBody>
      </p:sp>
      <p:sp>
        <p:nvSpPr>
          <p:cNvPr id="11" name="TextBox 10"/>
          <p:cNvSpPr txBox="1"/>
          <p:nvPr/>
        </p:nvSpPr>
        <p:spPr>
          <a:xfrm>
            <a:off x="885825" y="3910012"/>
            <a:ext cx="3048000" cy="600075"/>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Handles secure emergency tickets and dispatches instant SMS alerts and API commands.</a:t>
            </a:r>
          </a:p>
        </p:txBody>
      </p:sp>
      <p:sp>
        <p:nvSpPr>
          <p:cNvPr id="12" name="TextBox 11"/>
          <p:cNvSpPr txBox="1"/>
          <p:nvPr/>
        </p:nvSpPr>
        <p:spPr>
          <a:xfrm>
            <a:off x="4619625" y="3595687"/>
            <a:ext cx="3875484" cy="238125"/>
          </a:xfrm>
          <a:prstGeom prst="rect">
            <a:avLst/>
          </a:prstGeom>
          <a:noFill/>
        </p:spPr>
        <p:txBody>
          <a:bodyPr wrap="none" lIns="0" rIns="0" tIns="0" bIns="0" anchor="t">
            <a:spAutoFit/>
          </a:bodyPr>
          <a:lstStyle/>
          <a:p>
            <a:pPr algn="l"/>
            <a:r>
              <a:rPr b="1" sz="1500" i="0" u="none">
                <a:solidFill>
                  <a:srgbClr val="0F172A"/>
                </a:solidFill>
                <a:latin typeface="Plus Jakarta Sans"/>
              </a:rPr>
              <a:t>Vite React Web App</a:t>
            </a:r>
          </a:p>
        </p:txBody>
      </p:sp>
      <p:sp>
        <p:nvSpPr>
          <p:cNvPr id="13" name="TextBox 12"/>
          <p:cNvSpPr txBox="1"/>
          <p:nvPr/>
        </p:nvSpPr>
        <p:spPr>
          <a:xfrm>
            <a:off x="4619625" y="3910012"/>
            <a:ext cx="3048000" cy="600075"/>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Clean, simple dashboards tailored for CSIRT analysts, bank officers, police officers, and citizens.</a:t>
            </a:r>
          </a:p>
        </p:txBody>
      </p:sp>
      <p:sp>
        <p:nvSpPr>
          <p:cNvPr id="14" name="TextBox 13"/>
          <p:cNvSpPr txBox="1"/>
          <p:nvPr/>
        </p:nvSpPr>
        <p:spPr>
          <a:xfrm>
            <a:off x="8353425" y="3595687"/>
            <a:ext cx="3838575" cy="238125"/>
          </a:xfrm>
          <a:prstGeom prst="rect">
            <a:avLst/>
          </a:prstGeom>
          <a:noFill/>
        </p:spPr>
        <p:txBody>
          <a:bodyPr wrap="none" lIns="0" rIns="0" tIns="0" bIns="0" anchor="t">
            <a:spAutoFit/>
          </a:bodyPr>
          <a:lstStyle/>
          <a:p>
            <a:pPr algn="l"/>
            <a:r>
              <a:rPr b="1" sz="1500" i="0" u="none">
                <a:solidFill>
                  <a:srgbClr val="0F172A"/>
                </a:solidFill>
                <a:latin typeface="Plus Jakarta Sans"/>
              </a:rPr>
              <a:t>Ethio Telecom API Hook</a:t>
            </a:r>
          </a:p>
        </p:txBody>
      </p:sp>
      <p:sp>
        <p:nvSpPr>
          <p:cNvPr id="15" name="TextBox 14"/>
          <p:cNvSpPr txBox="1"/>
          <p:nvPr/>
        </p:nvSpPr>
        <p:spPr>
          <a:xfrm>
            <a:off x="8353425" y="3910012"/>
            <a:ext cx="3048000" cy="600075"/>
          </a:xfrm>
          <a:prstGeom prst="rect">
            <a:avLst/>
          </a:prstGeom>
          <a:noFill/>
        </p:spPr>
        <p:txBody>
          <a:bodyPr wrap="square" lIns="0" rIns="0" tIns="0" bIns="0" anchor="t">
            <a:spAutoFit/>
          </a:bodyPr>
          <a:lstStyle/>
          <a:p>
            <a:pPr algn="l">
              <a:lnSpc>
                <a:spcPts val="1575"/>
              </a:lnSpc>
            </a:pPr>
            <a:r>
              <a:rPr b="0" sz="1050" i="0" u="none">
                <a:solidFill>
                  <a:srgbClr val="475569"/>
                </a:solidFill>
                <a:latin typeface="Plus Jakarta Sans"/>
              </a:rPr>
              <a:t>Direct link enabling real-time trace and lock execution across Telebirr mobile wallets nationwide.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609600" y="2676525"/>
            <a:ext cx="10972800" cy="1362075"/>
          </a:xfrm>
          <a:prstGeom prst="rect">
            <a:avLst/>
          </a:prstGeom>
          <a:solidFill>
            <a:srgbClr val="F8FA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09600" y="4267200"/>
            <a:ext cx="10972800" cy="847725"/>
          </a:xfrm>
          <a:prstGeom prst="roundRect">
            <a:avLst>
              <a:gd name="adj" fmla="val 13483"/>
            </a:avLst>
          </a:prstGeom>
          <a:solidFill>
            <a:srgbClr val="EFF6FF"/>
          </a:solidFill>
          <a:ln w="9525">
            <a:solidFill>
              <a:srgbClr val="BFDBF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09600" y="2676525"/>
            <a:ext cx="57150" cy="1362075"/>
          </a:xfrm>
          <a:prstGeom prst="rect">
            <a:avLst/>
          </a:prstGeom>
          <a:solidFill>
            <a:srgbClr val="0284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09600" y="533400"/>
            <a:ext cx="11582400" cy="171450"/>
          </a:xfrm>
          <a:prstGeom prst="rect">
            <a:avLst/>
          </a:prstGeom>
          <a:noFill/>
        </p:spPr>
        <p:txBody>
          <a:bodyPr wrap="none" lIns="0" rIns="0" tIns="0" bIns="0" anchor="t">
            <a:spAutoFit/>
          </a:bodyPr>
          <a:lstStyle/>
          <a:p>
            <a:pPr algn="l"/>
            <a:r>
              <a:rPr b="1" sz="1050" i="0" u="none">
                <a:solidFill>
                  <a:srgbClr val="0284C7"/>
                </a:solidFill>
                <a:latin typeface="JetBrains Mono"/>
              </a:rPr>
              <a:t>RESEARCH ALIGNMENT</a:t>
            </a:r>
          </a:p>
        </p:txBody>
      </p:sp>
      <p:sp>
        <p:nvSpPr>
          <p:cNvPr id="6" name="TextBox 5"/>
          <p:cNvSpPr txBox="1"/>
          <p:nvPr/>
        </p:nvSpPr>
        <p:spPr>
          <a:xfrm>
            <a:off x="609600" y="781050"/>
            <a:ext cx="11582400" cy="381000"/>
          </a:xfrm>
          <a:prstGeom prst="rect">
            <a:avLst/>
          </a:prstGeom>
          <a:noFill/>
        </p:spPr>
        <p:txBody>
          <a:bodyPr wrap="none" lIns="0" rIns="0" tIns="0" bIns="0" anchor="t">
            <a:spAutoFit/>
          </a:bodyPr>
          <a:lstStyle/>
          <a:p>
            <a:pPr algn="l"/>
            <a:r>
              <a:rPr b="1" sz="2400" i="0" u="none">
                <a:solidFill>
                  <a:srgbClr val="0F172A"/>
                </a:solidFill>
                <a:latin typeface="Plus Jakarta Sans"/>
              </a:rPr>
              <a:t>Backed by Local Academic Findings</a:t>
            </a:r>
          </a:p>
        </p:txBody>
      </p:sp>
      <p:sp>
        <p:nvSpPr>
          <p:cNvPr id="7" name="TextBox 6"/>
          <p:cNvSpPr txBox="1"/>
          <p:nvPr/>
        </p:nvSpPr>
        <p:spPr>
          <a:xfrm>
            <a:off x="1009650" y="2943225"/>
            <a:ext cx="10325100" cy="533400"/>
          </a:xfrm>
          <a:prstGeom prst="rect">
            <a:avLst/>
          </a:prstGeom>
          <a:noFill/>
        </p:spPr>
        <p:txBody>
          <a:bodyPr wrap="square" lIns="0" rIns="0" tIns="0" bIns="0" anchor="t">
            <a:spAutoFit/>
          </a:bodyPr>
          <a:lstStyle/>
          <a:p>
            <a:pPr algn="l">
              <a:lnSpc>
                <a:spcPts val="2100"/>
              </a:lnSpc>
            </a:pPr>
            <a:r>
              <a:rPr b="1" sz="1500" i="0" u="none">
                <a:solidFill>
                  <a:srgbClr val="0F172A"/>
                </a:solidFill>
                <a:latin typeface="Plus Jakarta Sans"/>
              </a:rPr>
              <a:t>"Ethiopian private and government banks must work together by developing a </a:t>
            </a:r>
            <a:r>
              <a:rPr b="1" sz="1500" i="0" u="none">
                <a:solidFill>
                  <a:srgbClr val="0F172A"/>
                </a:solidFill>
                <a:latin typeface="Plus Jakarta Sans"/>
              </a:rPr>
              <a:t>centralized fraud control mechanism</a:t>
            </a:r>
            <a:r>
              <a:rPr b="1" sz="1500" i="0" u="none">
                <a:solidFill>
                  <a:srgbClr val="0F172A"/>
                </a:solidFill>
                <a:latin typeface="Plus Jakarta Sans"/>
              </a:rPr>
              <a:t>."</a:t>
            </a:r>
          </a:p>
        </p:txBody>
      </p:sp>
      <p:sp>
        <p:nvSpPr>
          <p:cNvPr id="8" name="TextBox 7"/>
          <p:cNvSpPr txBox="1"/>
          <p:nvPr/>
        </p:nvSpPr>
        <p:spPr>
          <a:xfrm>
            <a:off x="1009650" y="3590925"/>
            <a:ext cx="11182350" cy="180975"/>
          </a:xfrm>
          <a:prstGeom prst="rect">
            <a:avLst/>
          </a:prstGeom>
          <a:noFill/>
        </p:spPr>
        <p:txBody>
          <a:bodyPr wrap="none" lIns="0" rIns="0" tIns="0" bIns="0" anchor="t">
            <a:spAutoFit/>
          </a:bodyPr>
          <a:lstStyle/>
          <a:p>
            <a:pPr algn="l"/>
            <a:r>
              <a:rPr b="1" sz="1125" i="0" u="none">
                <a:solidFill>
                  <a:srgbClr val="64748B"/>
                </a:solidFill>
                <a:latin typeface="Plus Jakarta Sans"/>
              </a:rPr>
              <a:t>— Techalu Setarge, Master's Thesis, Addis Ababa University (AAU)</a:t>
            </a:r>
          </a:p>
        </p:txBody>
      </p:sp>
      <p:sp>
        <p:nvSpPr>
          <p:cNvPr id="9" name="TextBox 8"/>
          <p:cNvSpPr txBox="1"/>
          <p:nvPr/>
        </p:nvSpPr>
        <p:spPr>
          <a:xfrm>
            <a:off x="885825" y="4467225"/>
            <a:ext cx="11306175" cy="209550"/>
          </a:xfrm>
          <a:prstGeom prst="rect">
            <a:avLst/>
          </a:prstGeom>
          <a:noFill/>
        </p:spPr>
        <p:txBody>
          <a:bodyPr wrap="none" lIns="0" rIns="0" tIns="0" bIns="0" anchor="t">
            <a:spAutoFit/>
          </a:bodyPr>
          <a:lstStyle/>
          <a:p>
            <a:pPr algn="l"/>
            <a:r>
              <a:rPr b="1" sz="1275" i="0" u="none">
                <a:solidFill>
                  <a:srgbClr val="1E40AF"/>
                </a:solidFill>
                <a:latin typeface="Plus Jakarta Sans"/>
              </a:rPr>
              <a:t>Turning Academic Advice into Real Action</a:t>
            </a:r>
          </a:p>
        </p:txBody>
      </p:sp>
      <p:sp>
        <p:nvSpPr>
          <p:cNvPr id="10" name="TextBox 9"/>
          <p:cNvSpPr txBox="1"/>
          <p:nvPr/>
        </p:nvSpPr>
        <p:spPr>
          <a:xfrm>
            <a:off x="885825" y="4714875"/>
            <a:ext cx="11306175" cy="200025"/>
          </a:xfrm>
          <a:prstGeom prst="rect">
            <a:avLst/>
          </a:prstGeom>
          <a:noFill/>
        </p:spPr>
        <p:txBody>
          <a:bodyPr wrap="none" lIns="0" rIns="0" tIns="0" bIns="0" anchor="t">
            <a:spAutoFit/>
          </a:bodyPr>
          <a:lstStyle/>
          <a:p>
            <a:pPr algn="l">
              <a:lnSpc>
                <a:spcPts val="1575"/>
              </a:lnSpc>
            </a:pPr>
            <a:r>
              <a:rPr b="0" sz="1050" i="0" u="none">
                <a:solidFill>
                  <a:srgbClr val="1E3A8A"/>
                </a:solidFill>
                <a:latin typeface="Plus Jakarta Sans"/>
              </a:rPr>
              <a:t>NDSIR takes this exact thesis recommendation from AAU and turns it into an operational, software-driven national defense system for INSA and Ethiopian banks.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ounded Rectangle 1"/>
          <p:cNvSpPr/>
          <p:nvPr/>
        </p:nvSpPr>
        <p:spPr>
          <a:xfrm>
            <a:off x="3819525" y="4329112"/>
            <a:ext cx="4552950" cy="457200"/>
          </a:xfrm>
          <a:prstGeom prst="roundRect">
            <a:avLst>
              <a:gd name="adj" fmla="val 50000"/>
            </a:avLst>
          </a:prstGeom>
          <a:solidFill>
            <a:srgbClr val="1E293B"/>
          </a:solidFill>
          <a:ln w="9525">
            <a:solidFill>
              <a:srgbClr val="3341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png"/>
          <p:cNvPicPr>
            <a:picLocks noChangeAspect="1"/>
          </p:cNvPicPr>
          <p:nvPr/>
        </p:nvPicPr>
        <p:blipFill>
          <a:blip r:embed="rId2"/>
          <a:stretch>
            <a:fillRect/>
          </a:stretch>
        </p:blipFill>
        <p:spPr>
          <a:xfrm>
            <a:off x="5867400" y="2071687"/>
            <a:ext cx="457200" cy="457200"/>
          </a:xfrm>
          <a:prstGeom prst="rect">
            <a:avLst/>
          </a:prstGeom>
        </p:spPr>
      </p:pic>
      <p:sp>
        <p:nvSpPr>
          <p:cNvPr id="4" name="TextBox 3"/>
          <p:cNvSpPr txBox="1"/>
          <p:nvPr/>
        </p:nvSpPr>
        <p:spPr>
          <a:xfrm>
            <a:off x="50601" y="2757487"/>
            <a:ext cx="12090796" cy="581025"/>
          </a:xfrm>
          <a:prstGeom prst="rect">
            <a:avLst/>
          </a:prstGeom>
          <a:noFill/>
        </p:spPr>
        <p:txBody>
          <a:bodyPr wrap="none" lIns="0" rIns="0" tIns="0" bIns="0" anchor="t">
            <a:spAutoFit/>
          </a:bodyPr>
          <a:lstStyle/>
          <a:p>
            <a:pPr algn="ctr"/>
            <a:r>
              <a:rPr b="1" sz="3600" i="0" u="none">
                <a:solidFill>
                  <a:srgbClr val="F8FAFC"/>
                </a:solidFill>
                <a:latin typeface="Plus Jakarta Sans"/>
              </a:rPr>
              <a:t>NDSIR: Securing Ethiopia's Financial Future</a:t>
            </a:r>
          </a:p>
        </p:txBody>
      </p:sp>
      <p:sp>
        <p:nvSpPr>
          <p:cNvPr id="5" name="TextBox 4"/>
          <p:cNvSpPr txBox="1"/>
          <p:nvPr/>
        </p:nvSpPr>
        <p:spPr>
          <a:xfrm>
            <a:off x="1928812" y="3490912"/>
            <a:ext cx="8334375" cy="533400"/>
          </a:xfrm>
          <a:prstGeom prst="rect">
            <a:avLst/>
          </a:prstGeom>
          <a:noFill/>
        </p:spPr>
        <p:txBody>
          <a:bodyPr wrap="square" lIns="0" rIns="0" tIns="0" bIns="0" anchor="t">
            <a:spAutoFit/>
          </a:bodyPr>
          <a:lstStyle/>
          <a:p>
            <a:pPr algn="ctr">
              <a:lnSpc>
                <a:spcPts val="2100"/>
              </a:lnSpc>
            </a:pPr>
            <a:r>
              <a:rPr b="0" sz="1500" i="0" u="none">
                <a:solidFill>
                  <a:srgbClr val="94A3B8"/>
                </a:solidFill>
                <a:latin typeface="Plus Jakarta Sans"/>
              </a:rPr>
              <a:t>A clear, effective, and fast system built to solve real local digital fraud problems.</a:t>
            </a:r>
          </a:p>
        </p:txBody>
      </p:sp>
      <p:sp>
        <p:nvSpPr>
          <p:cNvPr id="6" name="TextBox 5"/>
          <p:cNvSpPr txBox="1"/>
          <p:nvPr/>
        </p:nvSpPr>
        <p:spPr>
          <a:xfrm>
            <a:off x="3517106" y="4443412"/>
            <a:ext cx="5157787" cy="228600"/>
          </a:xfrm>
          <a:prstGeom prst="rect">
            <a:avLst/>
          </a:prstGeom>
          <a:noFill/>
        </p:spPr>
        <p:txBody>
          <a:bodyPr wrap="square" lIns="0" rIns="0" tIns="0" bIns="0" anchor="t">
            <a:spAutoFit/>
          </a:bodyPr>
          <a:lstStyle/>
          <a:p>
            <a:pPr algn="ctr"/>
            <a:r>
              <a:rPr b="1" sz="1200" i="0" u="none">
                <a:solidFill>
                  <a:srgbClr val="38BDF8"/>
                </a:solidFill>
                <a:latin typeface="Plus Jakarta Sans"/>
              </a:rPr>
              <a:t>NDSIR System Proposal • INSA &amp; Ethio-CSIRT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571500" y="1000125"/>
            <a:ext cx="857250" cy="476250"/>
          </a:xfrm>
          <a:prstGeom prst="rect">
            <a:avLst/>
          </a:prstGeom>
        </p:spPr>
      </p:pic>
      <p:sp>
        <p:nvSpPr>
          <p:cNvPr id="3" name="TextBox 2"/>
          <p:cNvSpPr txBox="1"/>
          <p:nvPr/>
        </p:nvSpPr>
        <p:spPr>
          <a:xfrm>
            <a:off x="571500" y="571500"/>
            <a:ext cx="2187773" cy="285750"/>
          </a:xfrm>
          <a:prstGeom prst="rect">
            <a:avLst/>
          </a:prstGeom>
          <a:noFill/>
        </p:spPr>
        <p:txBody>
          <a:bodyPr wrap="none" lIns="0" rIns="0" tIns="0" bIns="0" anchor="t">
            <a:spAutoFit/>
          </a:bodyPr>
          <a:lstStyle/>
          <a:p>
            <a:pPr algn="l"/>
            <a:r>
              <a:rPr b="1" sz="1800" i="0" u="none">
                <a:solidFill>
                  <a:srgbClr val="F8FAFC"/>
                </a:solidFill>
                <a:latin typeface="Plus Jakarta Sans"/>
              </a:rPr>
              <a:t>Image Sources</a:t>
            </a:r>
          </a:p>
        </p:txBody>
      </p:sp>
      <p:sp>
        <p:nvSpPr>
          <p:cNvPr id="4" name="TextBox 3"/>
          <p:cNvSpPr txBox="1"/>
          <p:nvPr/>
        </p:nvSpPr>
        <p:spPr>
          <a:xfrm>
            <a:off x="1666875" y="1038225"/>
            <a:ext cx="6107906" cy="152400"/>
          </a:xfrm>
          <a:prstGeom prst="rect">
            <a:avLst/>
          </a:prstGeom>
          <a:noFill/>
        </p:spPr>
        <p:txBody>
          <a:bodyPr wrap="none" lIns="0" rIns="0" tIns="0" bIns="0" anchor="t">
            <a:spAutoFit/>
          </a:bodyPr>
          <a:lstStyle/>
          <a:p>
            <a:pPr algn="l"/>
            <a:r>
              <a:rPr b="0" sz="975" i="0" u="none">
                <a:solidFill>
                  <a:srgbClr val="F8FAFC"/>
                </a:solidFill>
                <a:latin typeface="Plus Jakarta Sans"/>
              </a:rPr>
              <a:t>https://www.haivision.com/wp-content/uploads/operation-center-tech-blog.jpg</a:t>
            </a:r>
          </a:p>
        </p:txBody>
      </p:sp>
      <p:sp>
        <p:nvSpPr>
          <p:cNvPr id="5" name="TextBox 4"/>
          <p:cNvSpPr txBox="1"/>
          <p:nvPr/>
        </p:nvSpPr>
        <p:spPr>
          <a:xfrm>
            <a:off x="1666875" y="1238250"/>
            <a:ext cx="2500312" cy="200025"/>
          </a:xfrm>
          <a:prstGeom prst="rect">
            <a:avLst/>
          </a:prstGeom>
          <a:noFill/>
        </p:spPr>
        <p:txBody>
          <a:bodyPr wrap="none" lIns="0" rIns="0" tIns="0" bIns="0" anchor="t">
            <a:spAutoFit/>
          </a:bodyPr>
          <a:lstStyle/>
          <a:p>
            <a:pPr algn="l"/>
            <a:r>
              <a:rPr b="0" sz="1200" i="0" u="none">
                <a:solidFill>
                  <a:srgbClr val="F8FAFC"/>
                </a:solidFill>
                <a:latin typeface="Plus Jakarta Sans"/>
              </a:rPr>
              <a:t>Source: </a:t>
            </a:r>
            <a:r>
              <a:rPr b="0" sz="1200" i="0" u="none">
                <a:solidFill>
                  <a:srgbClr val="F8FAFC"/>
                </a:solidFill>
                <a:latin typeface="Plus Jakarta Sans"/>
              </a:rPr>
              <a:t>www.haivision.com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